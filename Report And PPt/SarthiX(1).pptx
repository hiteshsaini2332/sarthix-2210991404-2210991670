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1" r:id="rId6"/>
    <p:sldId id="265" r:id="rId7"/>
    <p:sldId id="270" r:id="rId8"/>
    <p:sldId id="271" r:id="rId9"/>
    <p:sldId id="272" r:id="rId10"/>
    <p:sldId id="266" r:id="rId11"/>
    <p:sldId id="267" r:id="rId12"/>
    <p:sldId id="268" r:id="rId13"/>
    <p:sldId id="269"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142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9"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rial"/>
              </a:rPr>
              <a:t>Click to move the slide</a:t>
            </a:r>
          </a:p>
        </p:txBody>
      </p:sp>
      <p:sp>
        <p:nvSpPr>
          <p:cNvPr id="22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1"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22"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23"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24"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CD60251-23E1-4B86-81C2-7A671137C226}"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laceHolder 1"/>
          <p:cNvSpPr>
            <a:spLocks noGrp="1" noRot="1" noChangeAspect="1"/>
          </p:cNvSpPr>
          <p:nvPr>
            <p:ph type="sldImg"/>
          </p:nvPr>
        </p:nvSpPr>
        <p:spPr>
          <a:xfrm>
            <a:off x="1374775" y="1336675"/>
            <a:ext cx="4810125" cy="3608388"/>
          </a:xfrm>
          <a:prstGeom prst="rect">
            <a:avLst/>
          </a:prstGeom>
          <a:ln w="0">
            <a:noFill/>
          </a:ln>
        </p:spPr>
      </p:sp>
      <p:sp>
        <p:nvSpPr>
          <p:cNvPr id="250" name="PlaceHolder 2"/>
          <p:cNvSpPr>
            <a:spLocks noGrp="1"/>
          </p:cNvSpPr>
          <p:nvPr>
            <p:ph type="body"/>
          </p:nvPr>
        </p:nvSpPr>
        <p:spPr>
          <a:xfrm>
            <a:off x="755640" y="5145120"/>
            <a:ext cx="6048000" cy="420984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51" name="PlaceHolder 3"/>
          <p:cNvSpPr>
            <a:spLocks noGrp="1"/>
          </p:cNvSpPr>
          <p:nvPr>
            <p:ph type="sldNum" idx="4"/>
          </p:nvPr>
        </p:nvSpPr>
        <p:spPr>
          <a:xfrm>
            <a:off x="4281480" y="10155240"/>
            <a:ext cx="3276360" cy="5360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3807172-DF9D-4D5C-9A0A-DEE7941D288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
        <p:nvSpPr>
          <p:cNvPr id="252" name="PlaceHolder 4"/>
          <p:cNvSpPr>
            <a:spLocks noGrp="1"/>
          </p:cNvSpPr>
          <p:nvPr>
            <p:ph type="ftr" idx="5"/>
          </p:nvPr>
        </p:nvSpPr>
        <p:spPr>
          <a:xfrm>
            <a:off x="0" y="10155240"/>
            <a:ext cx="3276360" cy="536040"/>
          </a:xfrm>
          <a:prstGeom prst="rect">
            <a:avLst/>
          </a:prstGeom>
          <a:noFill/>
          <a:ln w="0">
            <a:noFill/>
          </a:ln>
        </p:spPr>
        <p:txBody>
          <a:bodyPr lIns="91440" tIns="45720" rIns="91440" bIns="45720" anchor="b">
            <a:noAutofit/>
          </a:bodyPr>
          <a:lstStyle>
            <a:lvl1pPr indent="0">
              <a:lnSpc>
                <a:spcPct val="100000"/>
              </a:lnSpc>
              <a:buNone/>
              <a:defRPr lang="en-US" sz="1200" b="0" u="none" strike="noStrike">
                <a:solidFill>
                  <a:srgbClr val="000000"/>
                </a:solidFill>
                <a:effectLst/>
                <a:uFillTx/>
                <a:latin typeface="Times New Roman"/>
              </a:defRPr>
            </a:lvl1pPr>
          </a:lstStyle>
          <a:p>
            <a:pPr indent="0">
              <a:lnSpc>
                <a:spcPct val="100000"/>
              </a:lnSpc>
              <a:buNone/>
            </a:pPr>
            <a:r>
              <a:rPr lang="en-US" sz="1200" b="0" u="none" strike="noStrike">
                <a:solidFill>
                  <a:srgbClr val="000000"/>
                </a:solidFill>
                <a:effectLst/>
                <a:uFillTx/>
                <a:latin typeface="Times New Roman"/>
              </a:rPr>
              <a:t>Name of the faculty [Group: G00] [Sem:2nd]</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bg>
      <p:bgPr>
        <a:solidFill>
          <a:srgbClr val="FFFFFF"/>
        </a:solidFill>
        <a:effectLst/>
      </p:bgPr>
    </p:bg>
    <p:spTree>
      <p:nvGrpSpPr>
        <p:cNvPr id="1" name=""/>
        <p:cNvGrpSpPr/>
        <p:nvPr/>
      </p:nvGrpSpPr>
      <p:grpSpPr>
        <a:xfrm>
          <a:off x="0" y="0"/>
          <a:ext cx="0" cy="0"/>
          <a:chOff x="0" y="0"/>
          <a:chExt cx="0" cy="0"/>
        </a:xfrm>
      </p:grpSpPr>
      <p:sp>
        <p:nvSpPr>
          <p:cNvPr id="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 name="Group 3"/>
          <p:cNvGrpSpPr/>
          <p:nvPr/>
        </p:nvGrpSpPr>
        <p:grpSpPr>
          <a:xfrm>
            <a:off x="6146640" y="0"/>
            <a:ext cx="2996640" cy="875520"/>
            <a:chOff x="6146640" y="0"/>
            <a:chExt cx="2996640" cy="875520"/>
          </a:xfrm>
        </p:grpSpPr>
        <p:sp>
          <p:nvSpPr>
            <p:cNvPr id="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 name="Picture 9" descr="LOGO.gif"/>
            <p:cNvPicPr/>
            <p:nvPr/>
          </p:nvPicPr>
          <p:blipFill>
            <a:blip r:embed="rId2"/>
            <a:srcRect b="10729"/>
            <a:stretch/>
          </p:blipFill>
          <p:spPr>
            <a:xfrm>
              <a:off x="6553080" y="228600"/>
              <a:ext cx="2056680" cy="634320"/>
            </a:xfrm>
            <a:prstGeom prst="rect">
              <a:avLst/>
            </a:prstGeom>
            <a:noFill/>
            <a:ln w="9360">
              <a:noFill/>
            </a:ln>
          </p:spPr>
        </p:pic>
        <p:sp>
          <p:nvSpPr>
            <p:cNvPr id="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 name="Picture 15" descr="logo.jpg"/>
          <p:cNvPicPr/>
          <p:nvPr/>
        </p:nvPicPr>
        <p:blipFill>
          <a:blip r:embed="rId3"/>
          <a:stretch/>
        </p:blipFill>
        <p:spPr>
          <a:xfrm>
            <a:off x="6553080" y="228600"/>
            <a:ext cx="1920240" cy="608760"/>
          </a:xfrm>
          <a:prstGeom prst="rect">
            <a:avLst/>
          </a:prstGeom>
          <a:noFill/>
          <a:ln w="9360">
            <a:noFill/>
          </a:ln>
        </p:spPr>
      </p:pic>
      <p:pic>
        <p:nvPicPr>
          <p:cNvPr id="1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2" name="Group 6"/>
          <p:cNvGrpSpPr/>
          <p:nvPr/>
        </p:nvGrpSpPr>
        <p:grpSpPr>
          <a:xfrm>
            <a:off x="6146640" y="0"/>
            <a:ext cx="2996640" cy="875520"/>
            <a:chOff x="6146640" y="0"/>
            <a:chExt cx="2996640" cy="875520"/>
          </a:xfrm>
        </p:grpSpPr>
        <p:sp>
          <p:nvSpPr>
            <p:cNvPr id="1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 name="Picture 9" descr="LOGO.gif"/>
            <p:cNvPicPr/>
            <p:nvPr/>
          </p:nvPicPr>
          <p:blipFill>
            <a:blip r:embed="rId2"/>
            <a:srcRect b="10729"/>
            <a:stretch/>
          </p:blipFill>
          <p:spPr>
            <a:xfrm>
              <a:off x="6553080" y="228600"/>
              <a:ext cx="2056680" cy="634320"/>
            </a:xfrm>
            <a:prstGeom prst="rect">
              <a:avLst/>
            </a:prstGeom>
            <a:noFill/>
            <a:ln w="9360">
              <a:noFill/>
            </a:ln>
          </p:spPr>
        </p:pic>
        <p:sp>
          <p:nvSpPr>
            <p:cNvPr id="1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6" name="Picture 15" descr="logo.jpg"/>
          <p:cNvPicPr/>
          <p:nvPr/>
        </p:nvPicPr>
        <p:blipFill>
          <a:blip r:embed="rId3"/>
          <a:stretch/>
        </p:blipFill>
        <p:spPr>
          <a:xfrm>
            <a:off x="6553080" y="228600"/>
            <a:ext cx="1920240" cy="608760"/>
          </a:xfrm>
          <a:prstGeom prst="rect">
            <a:avLst/>
          </a:prstGeom>
          <a:noFill/>
          <a:ln w="9360">
            <a:noFill/>
          </a:ln>
        </p:spPr>
      </p:pic>
      <p:sp>
        <p:nvSpPr>
          <p:cNvPr id="1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rial"/>
              </a:rPr>
              <a:t>Click to edit the title text format</a:t>
            </a:r>
          </a:p>
        </p:txBody>
      </p:sp>
      <p:sp>
        <p:nvSpPr>
          <p:cNvPr id="18"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OverTx" preserve="1">
  <p:cSld name="Title, Content over Content">
    <p:bg>
      <p:bgPr>
        <a:solidFill>
          <a:srgbClr val="FFFFFF"/>
        </a:solidFill>
        <a:effectLst/>
      </p:bgPr>
    </p:bg>
    <p:spTree>
      <p:nvGrpSpPr>
        <p:cNvPr id="1" name=""/>
        <p:cNvGrpSpPr/>
        <p:nvPr/>
      </p:nvGrpSpPr>
      <p:grpSpPr>
        <a:xfrm>
          <a:off x="0" y="0"/>
          <a:ext cx="0" cy="0"/>
          <a:chOff x="0" y="0"/>
          <a:chExt cx="0" cy="0"/>
        </a:xfrm>
      </p:grpSpPr>
      <p:sp>
        <p:nvSpPr>
          <p:cNvPr id="19"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1"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22"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3" name="Group 3"/>
          <p:cNvGrpSpPr/>
          <p:nvPr/>
        </p:nvGrpSpPr>
        <p:grpSpPr>
          <a:xfrm>
            <a:off x="6146640" y="0"/>
            <a:ext cx="2996640" cy="875520"/>
            <a:chOff x="6146640" y="0"/>
            <a:chExt cx="2996640" cy="875520"/>
          </a:xfrm>
        </p:grpSpPr>
        <p:sp>
          <p:nvSpPr>
            <p:cNvPr id="24"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5" name="Picture 9" descr="LOGO.gif"/>
            <p:cNvPicPr/>
            <p:nvPr/>
          </p:nvPicPr>
          <p:blipFill>
            <a:blip r:embed="rId2"/>
            <a:srcRect b="10729"/>
            <a:stretch/>
          </p:blipFill>
          <p:spPr>
            <a:xfrm>
              <a:off x="6553080" y="228600"/>
              <a:ext cx="2056680" cy="634320"/>
            </a:xfrm>
            <a:prstGeom prst="rect">
              <a:avLst/>
            </a:prstGeom>
            <a:noFill/>
            <a:ln w="9360">
              <a:noFill/>
            </a:ln>
          </p:spPr>
        </p:pic>
        <p:sp>
          <p:nvSpPr>
            <p:cNvPr id="26"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7" name="Picture 15" descr="logo.jpg"/>
          <p:cNvPicPr/>
          <p:nvPr/>
        </p:nvPicPr>
        <p:blipFill>
          <a:blip r:embed="rId3"/>
          <a:stretch/>
        </p:blipFill>
        <p:spPr>
          <a:xfrm>
            <a:off x="6553080" y="228600"/>
            <a:ext cx="1920240" cy="608760"/>
          </a:xfrm>
          <a:prstGeom prst="rect">
            <a:avLst/>
          </a:prstGeom>
          <a:noFill/>
          <a:ln w="9360">
            <a:noFill/>
          </a:ln>
        </p:spPr>
      </p:pic>
      <p:pic>
        <p:nvPicPr>
          <p:cNvPr id="2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9" name="Group 6"/>
          <p:cNvGrpSpPr/>
          <p:nvPr/>
        </p:nvGrpSpPr>
        <p:grpSpPr>
          <a:xfrm>
            <a:off x="6146640" y="0"/>
            <a:ext cx="2996640" cy="875520"/>
            <a:chOff x="6146640" y="0"/>
            <a:chExt cx="2996640" cy="875520"/>
          </a:xfrm>
        </p:grpSpPr>
        <p:sp>
          <p:nvSpPr>
            <p:cNvPr id="30"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31" name="Picture 9" descr="LOGO.gif"/>
            <p:cNvPicPr/>
            <p:nvPr/>
          </p:nvPicPr>
          <p:blipFill>
            <a:blip r:embed="rId2"/>
            <a:srcRect b="10729"/>
            <a:stretch/>
          </p:blipFill>
          <p:spPr>
            <a:xfrm>
              <a:off x="6553080" y="228600"/>
              <a:ext cx="2056680" cy="634320"/>
            </a:xfrm>
            <a:prstGeom prst="rect">
              <a:avLst/>
            </a:prstGeom>
            <a:noFill/>
            <a:ln w="9360">
              <a:noFill/>
            </a:ln>
          </p:spPr>
        </p:pic>
        <p:sp>
          <p:nvSpPr>
            <p:cNvPr id="32"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33" name="Picture 15" descr="logo.jpg"/>
          <p:cNvPicPr/>
          <p:nvPr/>
        </p:nvPicPr>
        <p:blipFill>
          <a:blip r:embed="rId3"/>
          <a:stretch/>
        </p:blipFill>
        <p:spPr>
          <a:xfrm>
            <a:off x="6553080" y="228600"/>
            <a:ext cx="1920240" cy="608760"/>
          </a:xfrm>
          <a:prstGeom prst="rect">
            <a:avLst/>
          </a:prstGeom>
          <a:noFill/>
          <a:ln w="9360">
            <a:noFill/>
          </a:ln>
        </p:spPr>
      </p:pic>
      <p:sp>
        <p:nvSpPr>
          <p:cNvPr id="34"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35" name="PlaceHolder 2"/>
          <p:cNvSpPr>
            <a:spLocks noGrp="1"/>
          </p:cNvSpPr>
          <p:nvPr>
            <p:ph type="body"/>
          </p:nvPr>
        </p:nvSpPr>
        <p:spPr>
          <a:xfrm>
            <a:off x="457200" y="160452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36" name="PlaceHolder 3"/>
          <p:cNvSpPr>
            <a:spLocks noGrp="1"/>
          </p:cNvSpPr>
          <p:nvPr>
            <p:ph type="body"/>
          </p:nvPr>
        </p:nvSpPr>
        <p:spPr>
          <a:xfrm>
            <a:off x="457200" y="368208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fourObj" preserve="1">
  <p:cSld name="Title, 4 Content">
    <p:bg>
      <p:bgPr>
        <a:solidFill>
          <a:srgbClr val="FFFFFF"/>
        </a:solidFill>
        <a:effectLst/>
      </p:bgPr>
    </p:bg>
    <p:spTree>
      <p:nvGrpSpPr>
        <p:cNvPr id="1" name=""/>
        <p:cNvGrpSpPr/>
        <p:nvPr/>
      </p:nvGrpSpPr>
      <p:grpSpPr>
        <a:xfrm>
          <a:off x="0" y="0"/>
          <a:ext cx="0" cy="0"/>
          <a:chOff x="0" y="0"/>
          <a:chExt cx="0" cy="0"/>
        </a:xfrm>
      </p:grpSpPr>
      <p:sp>
        <p:nvSpPr>
          <p:cNvPr id="3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3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4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41" name="Group 3"/>
          <p:cNvGrpSpPr/>
          <p:nvPr/>
        </p:nvGrpSpPr>
        <p:grpSpPr>
          <a:xfrm>
            <a:off x="6146640" y="0"/>
            <a:ext cx="2996640" cy="875520"/>
            <a:chOff x="6146640" y="0"/>
            <a:chExt cx="2996640" cy="875520"/>
          </a:xfrm>
        </p:grpSpPr>
        <p:sp>
          <p:nvSpPr>
            <p:cNvPr id="4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3" name="Picture 9" descr="LOGO.gif"/>
            <p:cNvPicPr/>
            <p:nvPr/>
          </p:nvPicPr>
          <p:blipFill>
            <a:blip r:embed="rId2"/>
            <a:srcRect b="10729"/>
            <a:stretch/>
          </p:blipFill>
          <p:spPr>
            <a:xfrm>
              <a:off x="6553080" y="228600"/>
              <a:ext cx="2056680" cy="634320"/>
            </a:xfrm>
            <a:prstGeom prst="rect">
              <a:avLst/>
            </a:prstGeom>
            <a:noFill/>
            <a:ln w="9360">
              <a:noFill/>
            </a:ln>
          </p:spPr>
        </p:pic>
        <p:sp>
          <p:nvSpPr>
            <p:cNvPr id="4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45" name="Picture 15" descr="logo.jpg"/>
          <p:cNvPicPr/>
          <p:nvPr/>
        </p:nvPicPr>
        <p:blipFill>
          <a:blip r:embed="rId3"/>
          <a:stretch/>
        </p:blipFill>
        <p:spPr>
          <a:xfrm>
            <a:off x="6553080" y="228600"/>
            <a:ext cx="1920240" cy="608760"/>
          </a:xfrm>
          <a:prstGeom prst="rect">
            <a:avLst/>
          </a:prstGeom>
          <a:noFill/>
          <a:ln w="9360">
            <a:noFill/>
          </a:ln>
        </p:spPr>
      </p:pic>
      <p:pic>
        <p:nvPicPr>
          <p:cNvPr id="4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47" name="Group 6"/>
          <p:cNvGrpSpPr/>
          <p:nvPr/>
        </p:nvGrpSpPr>
        <p:grpSpPr>
          <a:xfrm>
            <a:off x="6146640" y="0"/>
            <a:ext cx="2996640" cy="875520"/>
            <a:chOff x="6146640" y="0"/>
            <a:chExt cx="2996640" cy="875520"/>
          </a:xfrm>
        </p:grpSpPr>
        <p:sp>
          <p:nvSpPr>
            <p:cNvPr id="4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9" name="Picture 9" descr="LOGO.gif"/>
            <p:cNvPicPr/>
            <p:nvPr/>
          </p:nvPicPr>
          <p:blipFill>
            <a:blip r:embed="rId2"/>
            <a:srcRect b="10729"/>
            <a:stretch/>
          </p:blipFill>
          <p:spPr>
            <a:xfrm>
              <a:off x="6553080" y="228600"/>
              <a:ext cx="2056680" cy="634320"/>
            </a:xfrm>
            <a:prstGeom prst="rect">
              <a:avLst/>
            </a:prstGeom>
            <a:noFill/>
            <a:ln w="9360">
              <a:noFill/>
            </a:ln>
          </p:spPr>
        </p:pic>
        <p:sp>
          <p:nvSpPr>
            <p:cNvPr id="5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51" name="Picture 15" descr="logo.jpg"/>
          <p:cNvPicPr/>
          <p:nvPr/>
        </p:nvPicPr>
        <p:blipFill>
          <a:blip r:embed="rId3"/>
          <a:stretch/>
        </p:blipFill>
        <p:spPr>
          <a:xfrm>
            <a:off x="6553080" y="228600"/>
            <a:ext cx="1920240" cy="608760"/>
          </a:xfrm>
          <a:prstGeom prst="rect">
            <a:avLst/>
          </a:prstGeom>
          <a:noFill/>
          <a:ln w="9360">
            <a:noFill/>
          </a:ln>
        </p:spPr>
      </p:pic>
      <p:sp>
        <p:nvSpPr>
          <p:cNvPr id="52"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53"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4"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5"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6" name="PlaceHolder 5"/>
          <p:cNvSpPr>
            <a:spLocks noGrp="1"/>
          </p:cNvSpPr>
          <p:nvPr>
            <p:ph type="body"/>
          </p:nvPr>
        </p:nvSpPr>
        <p:spPr>
          <a:xfrm>
            <a:off x="467424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le, 6 Content">
    <p:bg>
      <p:bgPr>
        <a:solidFill>
          <a:srgbClr val="FFFFFF"/>
        </a:solidFill>
        <a:effectLst/>
      </p:bgPr>
    </p:bg>
    <p:spTree>
      <p:nvGrpSpPr>
        <p:cNvPr id="1" name=""/>
        <p:cNvGrpSpPr/>
        <p:nvPr/>
      </p:nvGrpSpPr>
      <p:grpSpPr>
        <a:xfrm>
          <a:off x="0" y="0"/>
          <a:ext cx="0" cy="0"/>
          <a:chOff x="0" y="0"/>
          <a:chExt cx="0" cy="0"/>
        </a:xfrm>
      </p:grpSpPr>
      <p:sp>
        <p:nvSpPr>
          <p:cNvPr id="5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5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6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1" name="Group 3"/>
          <p:cNvGrpSpPr/>
          <p:nvPr/>
        </p:nvGrpSpPr>
        <p:grpSpPr>
          <a:xfrm>
            <a:off x="6146640" y="0"/>
            <a:ext cx="2996640" cy="875520"/>
            <a:chOff x="6146640" y="0"/>
            <a:chExt cx="2996640" cy="875520"/>
          </a:xfrm>
        </p:grpSpPr>
        <p:sp>
          <p:nvSpPr>
            <p:cNvPr id="6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63" name="Picture 9" descr="LOGO.gif"/>
            <p:cNvPicPr/>
            <p:nvPr/>
          </p:nvPicPr>
          <p:blipFill>
            <a:blip r:embed="rId2"/>
            <a:srcRect b="10729"/>
            <a:stretch/>
          </p:blipFill>
          <p:spPr>
            <a:xfrm>
              <a:off x="6553080" y="228600"/>
              <a:ext cx="2056680" cy="634320"/>
            </a:xfrm>
            <a:prstGeom prst="rect">
              <a:avLst/>
            </a:prstGeom>
            <a:noFill/>
            <a:ln w="9360">
              <a:noFill/>
            </a:ln>
          </p:spPr>
        </p:pic>
        <p:sp>
          <p:nvSpPr>
            <p:cNvPr id="6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65" name="Picture 15" descr="logo.jpg"/>
          <p:cNvPicPr/>
          <p:nvPr/>
        </p:nvPicPr>
        <p:blipFill>
          <a:blip r:embed="rId3"/>
          <a:stretch/>
        </p:blipFill>
        <p:spPr>
          <a:xfrm>
            <a:off x="6553080" y="228600"/>
            <a:ext cx="1920240" cy="608760"/>
          </a:xfrm>
          <a:prstGeom prst="rect">
            <a:avLst/>
          </a:prstGeom>
          <a:noFill/>
          <a:ln w="9360">
            <a:noFill/>
          </a:ln>
        </p:spPr>
      </p:pic>
      <p:pic>
        <p:nvPicPr>
          <p:cNvPr id="6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7" name="Group 6"/>
          <p:cNvGrpSpPr/>
          <p:nvPr/>
        </p:nvGrpSpPr>
        <p:grpSpPr>
          <a:xfrm>
            <a:off x="6146640" y="0"/>
            <a:ext cx="2996640" cy="875520"/>
            <a:chOff x="6146640" y="0"/>
            <a:chExt cx="2996640" cy="875520"/>
          </a:xfrm>
        </p:grpSpPr>
        <p:sp>
          <p:nvSpPr>
            <p:cNvPr id="6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69" name="Picture 9" descr="LOGO.gif"/>
            <p:cNvPicPr/>
            <p:nvPr/>
          </p:nvPicPr>
          <p:blipFill>
            <a:blip r:embed="rId2"/>
            <a:srcRect b="10729"/>
            <a:stretch/>
          </p:blipFill>
          <p:spPr>
            <a:xfrm>
              <a:off x="6553080" y="228600"/>
              <a:ext cx="2056680" cy="634320"/>
            </a:xfrm>
            <a:prstGeom prst="rect">
              <a:avLst/>
            </a:prstGeom>
            <a:noFill/>
            <a:ln w="9360">
              <a:noFill/>
            </a:ln>
          </p:spPr>
        </p:pic>
        <p:sp>
          <p:nvSpPr>
            <p:cNvPr id="7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71" name="Picture 15" descr="logo.jpg"/>
          <p:cNvPicPr/>
          <p:nvPr/>
        </p:nvPicPr>
        <p:blipFill>
          <a:blip r:embed="rId3"/>
          <a:stretch/>
        </p:blipFill>
        <p:spPr>
          <a:xfrm>
            <a:off x="6553080" y="228600"/>
            <a:ext cx="1920240" cy="608760"/>
          </a:xfrm>
          <a:prstGeom prst="rect">
            <a:avLst/>
          </a:prstGeom>
          <a:noFill/>
          <a:ln w="9360">
            <a:noFill/>
          </a:ln>
        </p:spPr>
      </p:pic>
      <p:sp>
        <p:nvSpPr>
          <p:cNvPr id="72"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73" name="PlaceHolder 2"/>
          <p:cNvSpPr>
            <a:spLocks noGrp="1"/>
          </p:cNvSpPr>
          <p:nvPr>
            <p:ph type="body"/>
          </p:nvPr>
        </p:nvSpPr>
        <p:spPr>
          <a:xfrm>
            <a:off x="45720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4" name="PlaceHolder 3"/>
          <p:cNvSpPr>
            <a:spLocks noGrp="1"/>
          </p:cNvSpPr>
          <p:nvPr>
            <p:ph type="body"/>
          </p:nvPr>
        </p:nvSpPr>
        <p:spPr>
          <a:xfrm>
            <a:off x="323964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5" name="PlaceHolder 4"/>
          <p:cNvSpPr>
            <a:spLocks noGrp="1"/>
          </p:cNvSpPr>
          <p:nvPr>
            <p:ph type="body"/>
          </p:nvPr>
        </p:nvSpPr>
        <p:spPr>
          <a:xfrm>
            <a:off x="602208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6" name="PlaceHolder 5"/>
          <p:cNvSpPr>
            <a:spLocks noGrp="1"/>
          </p:cNvSpPr>
          <p:nvPr>
            <p:ph type="body"/>
          </p:nvPr>
        </p:nvSpPr>
        <p:spPr>
          <a:xfrm>
            <a:off x="45720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7" name="PlaceHolder 6"/>
          <p:cNvSpPr>
            <a:spLocks noGrp="1"/>
          </p:cNvSpPr>
          <p:nvPr>
            <p:ph type="body"/>
          </p:nvPr>
        </p:nvSpPr>
        <p:spPr>
          <a:xfrm>
            <a:off x="323964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8" name="PlaceHolder 7"/>
          <p:cNvSpPr>
            <a:spLocks noGrp="1"/>
          </p:cNvSpPr>
          <p:nvPr>
            <p:ph type="body"/>
          </p:nvPr>
        </p:nvSpPr>
        <p:spPr>
          <a:xfrm>
            <a:off x="602208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Slide">
    <p:bg>
      <p:bgPr>
        <a:solidFill>
          <a:srgbClr val="FFFFFF"/>
        </a:solidFill>
        <a:effectLst/>
      </p:bgPr>
    </p:bg>
    <p:spTree>
      <p:nvGrpSpPr>
        <p:cNvPr id="1" name=""/>
        <p:cNvGrpSpPr/>
        <p:nvPr/>
      </p:nvGrpSpPr>
      <p:grpSpPr>
        <a:xfrm>
          <a:off x="0" y="0"/>
          <a:ext cx="0" cy="0"/>
          <a:chOff x="0" y="0"/>
          <a:chExt cx="0" cy="0"/>
        </a:xfrm>
      </p:grpSpPr>
      <p:sp>
        <p:nvSpPr>
          <p:cNvPr id="79"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0"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1"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82"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83" name="Group 3"/>
          <p:cNvGrpSpPr/>
          <p:nvPr/>
        </p:nvGrpSpPr>
        <p:grpSpPr>
          <a:xfrm>
            <a:off x="6146640" y="0"/>
            <a:ext cx="2996640" cy="875520"/>
            <a:chOff x="6146640" y="0"/>
            <a:chExt cx="2996640" cy="875520"/>
          </a:xfrm>
        </p:grpSpPr>
        <p:sp>
          <p:nvSpPr>
            <p:cNvPr id="84"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5" name="Picture 9" descr="LOGO.gif"/>
            <p:cNvPicPr/>
            <p:nvPr/>
          </p:nvPicPr>
          <p:blipFill>
            <a:blip r:embed="rId2"/>
            <a:srcRect b="10729"/>
            <a:stretch/>
          </p:blipFill>
          <p:spPr>
            <a:xfrm>
              <a:off x="6553080" y="228600"/>
              <a:ext cx="2056680" cy="634320"/>
            </a:xfrm>
            <a:prstGeom prst="rect">
              <a:avLst/>
            </a:prstGeom>
            <a:noFill/>
            <a:ln w="9360">
              <a:noFill/>
            </a:ln>
          </p:spPr>
        </p:pic>
        <p:sp>
          <p:nvSpPr>
            <p:cNvPr id="86"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87" name="Picture 15" descr="logo.jpg"/>
          <p:cNvPicPr/>
          <p:nvPr/>
        </p:nvPicPr>
        <p:blipFill>
          <a:blip r:embed="rId3"/>
          <a:stretch/>
        </p:blipFill>
        <p:spPr>
          <a:xfrm>
            <a:off x="6553080" y="228600"/>
            <a:ext cx="1920240" cy="608760"/>
          </a:xfrm>
          <a:prstGeom prst="rect">
            <a:avLst/>
          </a:prstGeom>
          <a:noFill/>
          <a:ln w="9360">
            <a:noFill/>
          </a:ln>
        </p:spPr>
      </p:pic>
      <p:pic>
        <p:nvPicPr>
          <p:cNvPr id="8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89" name="Group 6"/>
          <p:cNvGrpSpPr/>
          <p:nvPr/>
        </p:nvGrpSpPr>
        <p:grpSpPr>
          <a:xfrm>
            <a:off x="6146640" y="0"/>
            <a:ext cx="2996640" cy="875520"/>
            <a:chOff x="6146640" y="0"/>
            <a:chExt cx="2996640" cy="875520"/>
          </a:xfrm>
        </p:grpSpPr>
        <p:sp>
          <p:nvSpPr>
            <p:cNvPr id="90"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91" name="Picture 9" descr="LOGO.gif"/>
            <p:cNvPicPr/>
            <p:nvPr/>
          </p:nvPicPr>
          <p:blipFill>
            <a:blip r:embed="rId2"/>
            <a:srcRect b="10729"/>
            <a:stretch/>
          </p:blipFill>
          <p:spPr>
            <a:xfrm>
              <a:off x="6553080" y="228600"/>
              <a:ext cx="2056680" cy="634320"/>
            </a:xfrm>
            <a:prstGeom prst="rect">
              <a:avLst/>
            </a:prstGeom>
            <a:noFill/>
            <a:ln w="9360">
              <a:noFill/>
            </a:ln>
          </p:spPr>
        </p:pic>
        <p:sp>
          <p:nvSpPr>
            <p:cNvPr id="92"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93" name="Picture 15" descr="logo.jpg"/>
          <p:cNvPicPr/>
          <p:nvPr/>
        </p:nvPicPr>
        <p:blipFill>
          <a:blip r:embed="rId3"/>
          <a:stretch/>
        </p:blipFill>
        <p:spPr>
          <a:xfrm>
            <a:off x="6553080" y="228600"/>
            <a:ext cx="1920240" cy="608760"/>
          </a:xfrm>
          <a:prstGeom prst="rect">
            <a:avLst/>
          </a:prstGeom>
          <a:noFill/>
          <a:ln w="9360">
            <a:noFill/>
          </a:ln>
        </p:spPr>
      </p:pic>
      <p:sp>
        <p:nvSpPr>
          <p:cNvPr id="94"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Content">
    <p:bg>
      <p:bgPr>
        <a:solidFill>
          <a:srgbClr val="FFFFFF"/>
        </a:solidFill>
        <a:effectLst/>
      </p:bgPr>
    </p:bg>
    <p:spTree>
      <p:nvGrpSpPr>
        <p:cNvPr id="1" name=""/>
        <p:cNvGrpSpPr/>
        <p:nvPr/>
      </p:nvGrpSpPr>
      <p:grpSpPr>
        <a:xfrm>
          <a:off x="0" y="0"/>
          <a:ext cx="0" cy="0"/>
          <a:chOff x="0" y="0"/>
          <a:chExt cx="0" cy="0"/>
        </a:xfrm>
      </p:grpSpPr>
      <p:sp>
        <p:nvSpPr>
          <p:cNvPr id="95"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6"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97"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9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99" name="Group 3"/>
          <p:cNvGrpSpPr/>
          <p:nvPr/>
        </p:nvGrpSpPr>
        <p:grpSpPr>
          <a:xfrm>
            <a:off x="6146640" y="0"/>
            <a:ext cx="2996640" cy="875520"/>
            <a:chOff x="6146640" y="0"/>
            <a:chExt cx="2996640" cy="875520"/>
          </a:xfrm>
        </p:grpSpPr>
        <p:sp>
          <p:nvSpPr>
            <p:cNvPr id="100"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01" name="Picture 9" descr="LOGO.gif"/>
            <p:cNvPicPr/>
            <p:nvPr/>
          </p:nvPicPr>
          <p:blipFill>
            <a:blip r:embed="rId2"/>
            <a:srcRect b="10729"/>
            <a:stretch/>
          </p:blipFill>
          <p:spPr>
            <a:xfrm>
              <a:off x="6553080" y="228600"/>
              <a:ext cx="2056680" cy="634320"/>
            </a:xfrm>
            <a:prstGeom prst="rect">
              <a:avLst/>
            </a:prstGeom>
            <a:noFill/>
            <a:ln w="9360">
              <a:noFill/>
            </a:ln>
          </p:spPr>
        </p:pic>
        <p:sp>
          <p:nvSpPr>
            <p:cNvPr id="102"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3" name="Picture 15" descr="logo.jpg"/>
          <p:cNvPicPr/>
          <p:nvPr/>
        </p:nvPicPr>
        <p:blipFill>
          <a:blip r:embed="rId3"/>
          <a:stretch/>
        </p:blipFill>
        <p:spPr>
          <a:xfrm>
            <a:off x="6553080" y="228600"/>
            <a:ext cx="1920240" cy="608760"/>
          </a:xfrm>
          <a:prstGeom prst="rect">
            <a:avLst/>
          </a:prstGeom>
          <a:noFill/>
          <a:ln w="9360">
            <a:noFill/>
          </a:ln>
        </p:spPr>
      </p:pic>
      <p:pic>
        <p:nvPicPr>
          <p:cNvPr id="104"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05" name="Group 6"/>
          <p:cNvGrpSpPr/>
          <p:nvPr/>
        </p:nvGrpSpPr>
        <p:grpSpPr>
          <a:xfrm>
            <a:off x="6146640" y="0"/>
            <a:ext cx="2996640" cy="875520"/>
            <a:chOff x="6146640" y="0"/>
            <a:chExt cx="2996640" cy="875520"/>
          </a:xfrm>
        </p:grpSpPr>
        <p:sp>
          <p:nvSpPr>
            <p:cNvPr id="106"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07" name="Picture 9" descr="LOGO.gif"/>
            <p:cNvPicPr/>
            <p:nvPr/>
          </p:nvPicPr>
          <p:blipFill>
            <a:blip r:embed="rId2"/>
            <a:srcRect b="10729"/>
            <a:stretch/>
          </p:blipFill>
          <p:spPr>
            <a:xfrm>
              <a:off x="6553080" y="228600"/>
              <a:ext cx="2056680" cy="634320"/>
            </a:xfrm>
            <a:prstGeom prst="rect">
              <a:avLst/>
            </a:prstGeom>
            <a:noFill/>
            <a:ln w="9360">
              <a:noFill/>
            </a:ln>
          </p:spPr>
        </p:pic>
        <p:sp>
          <p:nvSpPr>
            <p:cNvPr id="108"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9" name="Picture 15" descr="logo.jpg"/>
          <p:cNvPicPr/>
          <p:nvPr/>
        </p:nvPicPr>
        <p:blipFill>
          <a:blip r:embed="rId3"/>
          <a:stretch/>
        </p:blipFill>
        <p:spPr>
          <a:xfrm>
            <a:off x="6553080" y="228600"/>
            <a:ext cx="1920240" cy="608760"/>
          </a:xfrm>
          <a:prstGeom prst="rect">
            <a:avLst/>
          </a:prstGeom>
          <a:noFill/>
          <a:ln w="9360">
            <a:noFill/>
          </a:ln>
        </p:spPr>
      </p:pic>
      <p:sp>
        <p:nvSpPr>
          <p:cNvPr id="110"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11"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itle, 2 Content">
    <p:bg>
      <p:bgPr>
        <a:solidFill>
          <a:srgbClr val="FFFFFF"/>
        </a:solidFill>
        <a:effectLst/>
      </p:bgPr>
    </p:bg>
    <p:spTree>
      <p:nvGrpSpPr>
        <p:cNvPr id="1" name=""/>
        <p:cNvGrpSpPr/>
        <p:nvPr/>
      </p:nvGrpSpPr>
      <p:grpSpPr>
        <a:xfrm>
          <a:off x="0" y="0"/>
          <a:ext cx="0" cy="0"/>
          <a:chOff x="0" y="0"/>
          <a:chExt cx="0" cy="0"/>
        </a:xfrm>
      </p:grpSpPr>
      <p:sp>
        <p:nvSpPr>
          <p:cNvPr id="11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1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1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16" name="Group 3"/>
          <p:cNvGrpSpPr/>
          <p:nvPr/>
        </p:nvGrpSpPr>
        <p:grpSpPr>
          <a:xfrm>
            <a:off x="6146640" y="0"/>
            <a:ext cx="2996640" cy="875520"/>
            <a:chOff x="6146640" y="0"/>
            <a:chExt cx="2996640" cy="875520"/>
          </a:xfrm>
        </p:grpSpPr>
        <p:sp>
          <p:nvSpPr>
            <p:cNvPr id="11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18" name="Picture 9" descr="LOGO.gif"/>
            <p:cNvPicPr/>
            <p:nvPr/>
          </p:nvPicPr>
          <p:blipFill>
            <a:blip r:embed="rId2"/>
            <a:srcRect b="10729"/>
            <a:stretch/>
          </p:blipFill>
          <p:spPr>
            <a:xfrm>
              <a:off x="6553080" y="228600"/>
              <a:ext cx="2056680" cy="634320"/>
            </a:xfrm>
            <a:prstGeom prst="rect">
              <a:avLst/>
            </a:prstGeom>
            <a:noFill/>
            <a:ln w="9360">
              <a:noFill/>
            </a:ln>
          </p:spPr>
        </p:pic>
        <p:sp>
          <p:nvSpPr>
            <p:cNvPr id="11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20" name="Picture 15" descr="logo.jpg"/>
          <p:cNvPicPr/>
          <p:nvPr/>
        </p:nvPicPr>
        <p:blipFill>
          <a:blip r:embed="rId3"/>
          <a:stretch/>
        </p:blipFill>
        <p:spPr>
          <a:xfrm>
            <a:off x="6553080" y="228600"/>
            <a:ext cx="1920240" cy="608760"/>
          </a:xfrm>
          <a:prstGeom prst="rect">
            <a:avLst/>
          </a:prstGeom>
          <a:noFill/>
          <a:ln w="9360">
            <a:noFill/>
          </a:ln>
        </p:spPr>
      </p:pic>
      <p:pic>
        <p:nvPicPr>
          <p:cNvPr id="12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22" name="Group 6"/>
          <p:cNvGrpSpPr/>
          <p:nvPr/>
        </p:nvGrpSpPr>
        <p:grpSpPr>
          <a:xfrm>
            <a:off x="6146640" y="0"/>
            <a:ext cx="2996640" cy="875520"/>
            <a:chOff x="6146640" y="0"/>
            <a:chExt cx="2996640" cy="875520"/>
          </a:xfrm>
        </p:grpSpPr>
        <p:sp>
          <p:nvSpPr>
            <p:cNvPr id="12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24" name="Picture 9" descr="LOGO.gif"/>
            <p:cNvPicPr/>
            <p:nvPr/>
          </p:nvPicPr>
          <p:blipFill>
            <a:blip r:embed="rId2"/>
            <a:srcRect b="10729"/>
            <a:stretch/>
          </p:blipFill>
          <p:spPr>
            <a:xfrm>
              <a:off x="6553080" y="228600"/>
              <a:ext cx="2056680" cy="634320"/>
            </a:xfrm>
            <a:prstGeom prst="rect">
              <a:avLst/>
            </a:prstGeom>
            <a:noFill/>
            <a:ln w="9360">
              <a:noFill/>
            </a:ln>
          </p:spPr>
        </p:pic>
        <p:sp>
          <p:nvSpPr>
            <p:cNvPr id="12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26" name="Picture 15" descr="logo.jpg"/>
          <p:cNvPicPr/>
          <p:nvPr/>
        </p:nvPicPr>
        <p:blipFill>
          <a:blip r:embed="rId3"/>
          <a:stretch/>
        </p:blipFill>
        <p:spPr>
          <a:xfrm>
            <a:off x="6553080" y="228600"/>
            <a:ext cx="1920240" cy="608760"/>
          </a:xfrm>
          <a:prstGeom prst="rect">
            <a:avLst/>
          </a:prstGeom>
          <a:noFill/>
          <a:ln w="9360">
            <a:noFill/>
          </a:ln>
        </p:spPr>
      </p:pic>
      <p:sp>
        <p:nvSpPr>
          <p:cNvPr id="127"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28"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29"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130"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1"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32"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33"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34" name="Group 3"/>
          <p:cNvGrpSpPr/>
          <p:nvPr/>
        </p:nvGrpSpPr>
        <p:grpSpPr>
          <a:xfrm>
            <a:off x="6146640" y="0"/>
            <a:ext cx="2996640" cy="875520"/>
            <a:chOff x="6146640" y="0"/>
            <a:chExt cx="2996640" cy="875520"/>
          </a:xfrm>
        </p:grpSpPr>
        <p:sp>
          <p:nvSpPr>
            <p:cNvPr id="135"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36" name="Picture 9" descr="LOGO.gif"/>
            <p:cNvPicPr/>
            <p:nvPr/>
          </p:nvPicPr>
          <p:blipFill>
            <a:blip r:embed="rId2"/>
            <a:srcRect b="10729"/>
            <a:stretch/>
          </p:blipFill>
          <p:spPr>
            <a:xfrm>
              <a:off x="6553080" y="228600"/>
              <a:ext cx="2056680" cy="634320"/>
            </a:xfrm>
            <a:prstGeom prst="rect">
              <a:avLst/>
            </a:prstGeom>
            <a:noFill/>
            <a:ln w="9360">
              <a:noFill/>
            </a:ln>
          </p:spPr>
        </p:pic>
        <p:sp>
          <p:nvSpPr>
            <p:cNvPr id="137"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38" name="Picture 15" descr="logo.jpg"/>
          <p:cNvPicPr/>
          <p:nvPr/>
        </p:nvPicPr>
        <p:blipFill>
          <a:blip r:embed="rId3"/>
          <a:stretch/>
        </p:blipFill>
        <p:spPr>
          <a:xfrm>
            <a:off x="6553080" y="228600"/>
            <a:ext cx="1920240" cy="608760"/>
          </a:xfrm>
          <a:prstGeom prst="rect">
            <a:avLst/>
          </a:prstGeom>
          <a:noFill/>
          <a:ln w="9360">
            <a:noFill/>
          </a:ln>
        </p:spPr>
      </p:pic>
      <p:pic>
        <p:nvPicPr>
          <p:cNvPr id="139"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40" name="Group 6"/>
          <p:cNvGrpSpPr/>
          <p:nvPr/>
        </p:nvGrpSpPr>
        <p:grpSpPr>
          <a:xfrm>
            <a:off x="6146640" y="0"/>
            <a:ext cx="2996640" cy="875520"/>
            <a:chOff x="6146640" y="0"/>
            <a:chExt cx="2996640" cy="875520"/>
          </a:xfrm>
        </p:grpSpPr>
        <p:sp>
          <p:nvSpPr>
            <p:cNvPr id="141"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2" name="Picture 9" descr="LOGO.gif"/>
            <p:cNvPicPr/>
            <p:nvPr/>
          </p:nvPicPr>
          <p:blipFill>
            <a:blip r:embed="rId2"/>
            <a:srcRect b="10729"/>
            <a:stretch/>
          </p:blipFill>
          <p:spPr>
            <a:xfrm>
              <a:off x="6553080" y="228600"/>
              <a:ext cx="2056680" cy="634320"/>
            </a:xfrm>
            <a:prstGeom prst="rect">
              <a:avLst/>
            </a:prstGeom>
            <a:noFill/>
            <a:ln w="9360">
              <a:noFill/>
            </a:ln>
          </p:spPr>
        </p:pic>
        <p:sp>
          <p:nvSpPr>
            <p:cNvPr id="143"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44" name="Picture 15" descr="logo.jpg"/>
          <p:cNvPicPr/>
          <p:nvPr/>
        </p:nvPicPr>
        <p:blipFill>
          <a:blip r:embed="rId3"/>
          <a:stretch/>
        </p:blipFill>
        <p:spPr>
          <a:xfrm>
            <a:off x="6553080" y="228600"/>
            <a:ext cx="1920240" cy="608760"/>
          </a:xfrm>
          <a:prstGeom prst="rect">
            <a:avLst/>
          </a:prstGeom>
          <a:noFill/>
          <a:ln w="9360">
            <a:noFill/>
          </a:ln>
        </p:spPr>
      </p:pic>
      <p:sp>
        <p:nvSpPr>
          <p:cNvPr id="14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46"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mediaAndTx" preserve="1">
  <p:cSld name="Centered Text">
    <p:bg>
      <p:bgPr>
        <a:solidFill>
          <a:srgbClr val="FFFFFF"/>
        </a:solidFill>
        <a:effectLst/>
      </p:bgPr>
    </p:bg>
    <p:spTree>
      <p:nvGrpSpPr>
        <p:cNvPr id="1" name=""/>
        <p:cNvGrpSpPr/>
        <p:nvPr/>
      </p:nvGrpSpPr>
      <p:grpSpPr>
        <a:xfrm>
          <a:off x="0" y="0"/>
          <a:ext cx="0" cy="0"/>
          <a:chOff x="0" y="0"/>
          <a:chExt cx="0" cy="0"/>
        </a:xfrm>
      </p:grpSpPr>
      <p:sp>
        <p:nvSpPr>
          <p:cNvPr id="14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5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51" name="Group 3"/>
          <p:cNvGrpSpPr/>
          <p:nvPr/>
        </p:nvGrpSpPr>
        <p:grpSpPr>
          <a:xfrm>
            <a:off x="6146640" y="0"/>
            <a:ext cx="2996640" cy="875520"/>
            <a:chOff x="6146640" y="0"/>
            <a:chExt cx="2996640" cy="875520"/>
          </a:xfrm>
        </p:grpSpPr>
        <p:sp>
          <p:nvSpPr>
            <p:cNvPr id="15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53" name="Picture 9" descr="LOGO.gif"/>
            <p:cNvPicPr/>
            <p:nvPr/>
          </p:nvPicPr>
          <p:blipFill>
            <a:blip r:embed="rId2"/>
            <a:srcRect b="10729"/>
            <a:stretch/>
          </p:blipFill>
          <p:spPr>
            <a:xfrm>
              <a:off x="6553080" y="228600"/>
              <a:ext cx="2056680" cy="634320"/>
            </a:xfrm>
            <a:prstGeom prst="rect">
              <a:avLst/>
            </a:prstGeom>
            <a:noFill/>
            <a:ln w="9360">
              <a:noFill/>
            </a:ln>
          </p:spPr>
        </p:pic>
        <p:sp>
          <p:nvSpPr>
            <p:cNvPr id="15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55" name="Picture 15" descr="logo.jpg"/>
          <p:cNvPicPr/>
          <p:nvPr/>
        </p:nvPicPr>
        <p:blipFill>
          <a:blip r:embed="rId3"/>
          <a:stretch/>
        </p:blipFill>
        <p:spPr>
          <a:xfrm>
            <a:off x="6553080" y="228600"/>
            <a:ext cx="1920240" cy="608760"/>
          </a:xfrm>
          <a:prstGeom prst="rect">
            <a:avLst/>
          </a:prstGeom>
          <a:noFill/>
          <a:ln w="9360">
            <a:noFill/>
          </a:ln>
        </p:spPr>
      </p:pic>
      <p:pic>
        <p:nvPicPr>
          <p:cNvPr id="15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57" name="Group 6"/>
          <p:cNvGrpSpPr/>
          <p:nvPr/>
        </p:nvGrpSpPr>
        <p:grpSpPr>
          <a:xfrm>
            <a:off x="6146640" y="0"/>
            <a:ext cx="2996640" cy="875520"/>
            <a:chOff x="6146640" y="0"/>
            <a:chExt cx="2996640" cy="875520"/>
          </a:xfrm>
        </p:grpSpPr>
        <p:sp>
          <p:nvSpPr>
            <p:cNvPr id="15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59" name="Picture 9" descr="LOGO.gif"/>
            <p:cNvPicPr/>
            <p:nvPr/>
          </p:nvPicPr>
          <p:blipFill>
            <a:blip r:embed="rId2"/>
            <a:srcRect b="10729"/>
            <a:stretch/>
          </p:blipFill>
          <p:spPr>
            <a:xfrm>
              <a:off x="6553080" y="228600"/>
              <a:ext cx="2056680" cy="634320"/>
            </a:xfrm>
            <a:prstGeom prst="rect">
              <a:avLst/>
            </a:prstGeom>
            <a:noFill/>
            <a:ln w="9360">
              <a:noFill/>
            </a:ln>
          </p:spPr>
        </p:pic>
        <p:sp>
          <p:nvSpPr>
            <p:cNvPr id="16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61" name="Picture 15" descr="logo.jpg"/>
          <p:cNvPicPr/>
          <p:nvPr/>
        </p:nvPicPr>
        <p:blipFill>
          <a:blip r:embed="rId3"/>
          <a:stretch/>
        </p:blipFill>
        <p:spPr>
          <a:xfrm>
            <a:off x="6553080" y="228600"/>
            <a:ext cx="1920240" cy="608760"/>
          </a:xfrm>
          <a:prstGeom prst="rect">
            <a:avLst/>
          </a:prstGeom>
          <a:noFill/>
          <a:ln w="9360">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AndTx" preserve="1">
  <p:cSld name="Title, 2 Content and Content">
    <p:bg>
      <p:bgPr>
        <a:solidFill>
          <a:srgbClr val="FFFFFF"/>
        </a:solidFill>
        <a:effectLst/>
      </p:bgPr>
    </p:bg>
    <p:spTree>
      <p:nvGrpSpPr>
        <p:cNvPr id="1" name=""/>
        <p:cNvGrpSpPr/>
        <p:nvPr/>
      </p:nvGrpSpPr>
      <p:grpSpPr>
        <a:xfrm>
          <a:off x="0" y="0"/>
          <a:ext cx="0" cy="0"/>
          <a:chOff x="0" y="0"/>
          <a:chExt cx="0" cy="0"/>
        </a:xfrm>
      </p:grpSpPr>
      <p:sp>
        <p:nvSpPr>
          <p:cNvPr id="16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6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6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66" name="Group 3"/>
          <p:cNvGrpSpPr/>
          <p:nvPr/>
        </p:nvGrpSpPr>
        <p:grpSpPr>
          <a:xfrm>
            <a:off x="6146640" y="0"/>
            <a:ext cx="2996640" cy="875520"/>
            <a:chOff x="6146640" y="0"/>
            <a:chExt cx="2996640" cy="875520"/>
          </a:xfrm>
        </p:grpSpPr>
        <p:sp>
          <p:nvSpPr>
            <p:cNvPr id="16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68" name="Picture 9" descr="LOGO.gif"/>
            <p:cNvPicPr/>
            <p:nvPr/>
          </p:nvPicPr>
          <p:blipFill>
            <a:blip r:embed="rId2"/>
            <a:srcRect b="10729"/>
            <a:stretch/>
          </p:blipFill>
          <p:spPr>
            <a:xfrm>
              <a:off x="6553080" y="228600"/>
              <a:ext cx="2056680" cy="634320"/>
            </a:xfrm>
            <a:prstGeom prst="rect">
              <a:avLst/>
            </a:prstGeom>
            <a:noFill/>
            <a:ln w="9360">
              <a:noFill/>
            </a:ln>
          </p:spPr>
        </p:pic>
        <p:sp>
          <p:nvSpPr>
            <p:cNvPr id="16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70" name="Picture 15" descr="logo.jpg"/>
          <p:cNvPicPr/>
          <p:nvPr/>
        </p:nvPicPr>
        <p:blipFill>
          <a:blip r:embed="rId3"/>
          <a:stretch/>
        </p:blipFill>
        <p:spPr>
          <a:xfrm>
            <a:off x="6553080" y="228600"/>
            <a:ext cx="1920240" cy="608760"/>
          </a:xfrm>
          <a:prstGeom prst="rect">
            <a:avLst/>
          </a:prstGeom>
          <a:noFill/>
          <a:ln w="9360">
            <a:noFill/>
          </a:ln>
        </p:spPr>
      </p:pic>
      <p:pic>
        <p:nvPicPr>
          <p:cNvPr id="17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72" name="Group 6"/>
          <p:cNvGrpSpPr/>
          <p:nvPr/>
        </p:nvGrpSpPr>
        <p:grpSpPr>
          <a:xfrm>
            <a:off x="6146640" y="0"/>
            <a:ext cx="2996640" cy="875520"/>
            <a:chOff x="6146640" y="0"/>
            <a:chExt cx="2996640" cy="875520"/>
          </a:xfrm>
        </p:grpSpPr>
        <p:sp>
          <p:nvSpPr>
            <p:cNvPr id="17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74" name="Picture 9" descr="LOGO.gif"/>
            <p:cNvPicPr/>
            <p:nvPr/>
          </p:nvPicPr>
          <p:blipFill>
            <a:blip r:embed="rId2"/>
            <a:srcRect b="10729"/>
            <a:stretch/>
          </p:blipFill>
          <p:spPr>
            <a:xfrm>
              <a:off x="6553080" y="228600"/>
              <a:ext cx="2056680" cy="634320"/>
            </a:xfrm>
            <a:prstGeom prst="rect">
              <a:avLst/>
            </a:prstGeom>
            <a:noFill/>
            <a:ln w="9360">
              <a:noFill/>
            </a:ln>
          </p:spPr>
        </p:pic>
        <p:sp>
          <p:nvSpPr>
            <p:cNvPr id="17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76" name="Picture 15" descr="logo.jpg"/>
          <p:cNvPicPr/>
          <p:nvPr/>
        </p:nvPicPr>
        <p:blipFill>
          <a:blip r:embed="rId3"/>
          <a:stretch/>
        </p:blipFill>
        <p:spPr>
          <a:xfrm>
            <a:off x="6553080" y="228600"/>
            <a:ext cx="1920240" cy="608760"/>
          </a:xfrm>
          <a:prstGeom prst="rect">
            <a:avLst/>
          </a:prstGeom>
          <a:noFill/>
          <a:ln w="9360">
            <a:noFill/>
          </a:ln>
        </p:spPr>
      </p:pic>
      <p:sp>
        <p:nvSpPr>
          <p:cNvPr id="177"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78"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79"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80"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Title Content and 2 Content">
    <p:bg>
      <p:bgPr>
        <a:solidFill>
          <a:srgbClr val="FFFFFF"/>
        </a:solidFill>
        <a:effectLst/>
      </p:bgPr>
    </p:bg>
    <p:spTree>
      <p:nvGrpSpPr>
        <p:cNvPr id="1" name=""/>
        <p:cNvGrpSpPr/>
        <p:nvPr/>
      </p:nvGrpSpPr>
      <p:grpSpPr>
        <a:xfrm>
          <a:off x="0" y="0"/>
          <a:ext cx="0" cy="0"/>
          <a:chOff x="0" y="0"/>
          <a:chExt cx="0" cy="0"/>
        </a:xfrm>
      </p:grpSpPr>
      <p:sp>
        <p:nvSpPr>
          <p:cNvPr id="181"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2"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83"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84"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85" name="Group 3"/>
          <p:cNvGrpSpPr/>
          <p:nvPr/>
        </p:nvGrpSpPr>
        <p:grpSpPr>
          <a:xfrm>
            <a:off x="6146640" y="0"/>
            <a:ext cx="2996640" cy="875520"/>
            <a:chOff x="6146640" y="0"/>
            <a:chExt cx="2996640" cy="875520"/>
          </a:xfrm>
        </p:grpSpPr>
        <p:sp>
          <p:nvSpPr>
            <p:cNvPr id="186"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87" name="Picture 9" descr="LOGO.gif"/>
            <p:cNvPicPr/>
            <p:nvPr/>
          </p:nvPicPr>
          <p:blipFill>
            <a:blip r:embed="rId2"/>
            <a:srcRect b="10729"/>
            <a:stretch/>
          </p:blipFill>
          <p:spPr>
            <a:xfrm>
              <a:off x="6553080" y="228600"/>
              <a:ext cx="2056680" cy="634320"/>
            </a:xfrm>
            <a:prstGeom prst="rect">
              <a:avLst/>
            </a:prstGeom>
            <a:noFill/>
            <a:ln w="9360">
              <a:noFill/>
            </a:ln>
          </p:spPr>
        </p:pic>
        <p:sp>
          <p:nvSpPr>
            <p:cNvPr id="188"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89" name="Picture 15" descr="logo.jpg"/>
          <p:cNvPicPr/>
          <p:nvPr/>
        </p:nvPicPr>
        <p:blipFill>
          <a:blip r:embed="rId3"/>
          <a:stretch/>
        </p:blipFill>
        <p:spPr>
          <a:xfrm>
            <a:off x="6553080" y="228600"/>
            <a:ext cx="1920240" cy="608760"/>
          </a:xfrm>
          <a:prstGeom prst="rect">
            <a:avLst/>
          </a:prstGeom>
          <a:noFill/>
          <a:ln w="9360">
            <a:noFill/>
          </a:ln>
        </p:spPr>
      </p:pic>
      <p:pic>
        <p:nvPicPr>
          <p:cNvPr id="19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91" name="Group 6"/>
          <p:cNvGrpSpPr/>
          <p:nvPr/>
        </p:nvGrpSpPr>
        <p:grpSpPr>
          <a:xfrm>
            <a:off x="6146640" y="0"/>
            <a:ext cx="2996640" cy="875520"/>
            <a:chOff x="6146640" y="0"/>
            <a:chExt cx="2996640" cy="875520"/>
          </a:xfrm>
        </p:grpSpPr>
        <p:sp>
          <p:nvSpPr>
            <p:cNvPr id="192"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93" name="Picture 9" descr="LOGO.gif"/>
            <p:cNvPicPr/>
            <p:nvPr/>
          </p:nvPicPr>
          <p:blipFill>
            <a:blip r:embed="rId2"/>
            <a:srcRect b="10729"/>
            <a:stretch/>
          </p:blipFill>
          <p:spPr>
            <a:xfrm>
              <a:off x="6553080" y="228600"/>
              <a:ext cx="2056680" cy="634320"/>
            </a:xfrm>
            <a:prstGeom prst="rect">
              <a:avLst/>
            </a:prstGeom>
            <a:noFill/>
            <a:ln w="9360">
              <a:noFill/>
            </a:ln>
          </p:spPr>
        </p:pic>
        <p:sp>
          <p:nvSpPr>
            <p:cNvPr id="194"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95" name="Picture 15" descr="logo.jpg"/>
          <p:cNvPicPr/>
          <p:nvPr/>
        </p:nvPicPr>
        <p:blipFill>
          <a:blip r:embed="rId3"/>
          <a:stretch/>
        </p:blipFill>
        <p:spPr>
          <a:xfrm>
            <a:off x="6553080" y="228600"/>
            <a:ext cx="1920240" cy="608760"/>
          </a:xfrm>
          <a:prstGeom prst="rect">
            <a:avLst/>
          </a:prstGeom>
          <a:noFill/>
          <a:ln w="9360">
            <a:noFill/>
          </a:ln>
        </p:spPr>
      </p:pic>
      <p:sp>
        <p:nvSpPr>
          <p:cNvPr id="196"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97"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98"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99" name="PlaceHolder 4"/>
          <p:cNvSpPr>
            <a:spLocks noGrp="1"/>
          </p:cNvSpPr>
          <p:nvPr>
            <p:ph type="body"/>
          </p:nvPr>
        </p:nvSpPr>
        <p:spPr>
          <a:xfrm>
            <a:off x="467424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bg>
      <p:bgPr>
        <a:solidFill>
          <a:srgbClr val="FFFFFF"/>
        </a:solidFill>
        <a:effectLst/>
      </p:bgPr>
    </p:bg>
    <p:spTree>
      <p:nvGrpSpPr>
        <p:cNvPr id="1" name=""/>
        <p:cNvGrpSpPr/>
        <p:nvPr/>
      </p:nvGrpSpPr>
      <p:grpSpPr>
        <a:xfrm>
          <a:off x="0" y="0"/>
          <a:ext cx="0" cy="0"/>
          <a:chOff x="0" y="0"/>
          <a:chExt cx="0" cy="0"/>
        </a:xfrm>
      </p:grpSpPr>
      <p:sp>
        <p:nvSpPr>
          <p:cNvPr id="200"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1"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02"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203"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04" name="Group 3"/>
          <p:cNvGrpSpPr/>
          <p:nvPr/>
        </p:nvGrpSpPr>
        <p:grpSpPr>
          <a:xfrm>
            <a:off x="6146640" y="0"/>
            <a:ext cx="2996640" cy="875520"/>
            <a:chOff x="6146640" y="0"/>
            <a:chExt cx="2996640" cy="875520"/>
          </a:xfrm>
        </p:grpSpPr>
        <p:sp>
          <p:nvSpPr>
            <p:cNvPr id="205"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06" name="Picture 9" descr="LOGO.gif"/>
            <p:cNvPicPr/>
            <p:nvPr/>
          </p:nvPicPr>
          <p:blipFill>
            <a:blip r:embed="rId2"/>
            <a:srcRect b="10729"/>
            <a:stretch/>
          </p:blipFill>
          <p:spPr>
            <a:xfrm>
              <a:off x="6553080" y="228600"/>
              <a:ext cx="2056680" cy="634320"/>
            </a:xfrm>
            <a:prstGeom prst="rect">
              <a:avLst/>
            </a:prstGeom>
            <a:noFill/>
            <a:ln w="9360">
              <a:noFill/>
            </a:ln>
          </p:spPr>
        </p:pic>
        <p:sp>
          <p:nvSpPr>
            <p:cNvPr id="207"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08" name="Picture 15" descr="logo.jpg"/>
          <p:cNvPicPr/>
          <p:nvPr/>
        </p:nvPicPr>
        <p:blipFill>
          <a:blip r:embed="rId3"/>
          <a:stretch/>
        </p:blipFill>
        <p:spPr>
          <a:xfrm>
            <a:off x="6553080" y="228600"/>
            <a:ext cx="1920240" cy="608760"/>
          </a:xfrm>
          <a:prstGeom prst="rect">
            <a:avLst/>
          </a:prstGeom>
          <a:noFill/>
          <a:ln w="9360">
            <a:noFill/>
          </a:ln>
        </p:spPr>
      </p:pic>
      <p:pic>
        <p:nvPicPr>
          <p:cNvPr id="209"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10" name="Group 6"/>
          <p:cNvGrpSpPr/>
          <p:nvPr/>
        </p:nvGrpSpPr>
        <p:grpSpPr>
          <a:xfrm>
            <a:off x="6146640" y="0"/>
            <a:ext cx="2996640" cy="875520"/>
            <a:chOff x="6146640" y="0"/>
            <a:chExt cx="2996640" cy="875520"/>
          </a:xfrm>
        </p:grpSpPr>
        <p:sp>
          <p:nvSpPr>
            <p:cNvPr id="211"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12" name="Picture 9" descr="LOGO.gif"/>
            <p:cNvPicPr/>
            <p:nvPr/>
          </p:nvPicPr>
          <p:blipFill>
            <a:blip r:embed="rId2"/>
            <a:srcRect b="10729"/>
            <a:stretch/>
          </p:blipFill>
          <p:spPr>
            <a:xfrm>
              <a:off x="6553080" y="228600"/>
              <a:ext cx="2056680" cy="634320"/>
            </a:xfrm>
            <a:prstGeom prst="rect">
              <a:avLst/>
            </a:prstGeom>
            <a:noFill/>
            <a:ln w="9360">
              <a:noFill/>
            </a:ln>
          </p:spPr>
        </p:pic>
        <p:sp>
          <p:nvSpPr>
            <p:cNvPr id="213"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14" name="Picture 15" descr="logo.jpg"/>
          <p:cNvPicPr/>
          <p:nvPr/>
        </p:nvPicPr>
        <p:blipFill>
          <a:blip r:embed="rId3"/>
          <a:stretch/>
        </p:blipFill>
        <p:spPr>
          <a:xfrm>
            <a:off x="6553080" y="228600"/>
            <a:ext cx="1920240" cy="608760"/>
          </a:xfrm>
          <a:prstGeom prst="rect">
            <a:avLst/>
          </a:prstGeom>
          <a:noFill/>
          <a:ln w="9360">
            <a:noFill/>
          </a:ln>
        </p:spPr>
      </p:pic>
      <p:sp>
        <p:nvSpPr>
          <p:cNvPr id="21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216"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217"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218" name="PlaceHolder 4"/>
          <p:cNvSpPr>
            <a:spLocks noGrp="1"/>
          </p:cNvSpPr>
          <p:nvPr>
            <p:ph type="body"/>
          </p:nvPr>
        </p:nvSpPr>
        <p:spPr>
          <a:xfrm>
            <a:off x="457200" y="368208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hyperlink" Target="https://expressjs.com/" TargetMode="External"/><Relationship Id="rId3" Type="http://schemas.openxmlformats.org/officeDocument/2006/relationships/hyperlink" Target="https://vitejs.dev/" TargetMode="External"/><Relationship Id="rId7" Type="http://schemas.openxmlformats.org/officeDocument/2006/relationships/hyperlink" Target="https://supabase.com/docs/guides/storage" TargetMode="External"/><Relationship Id="rId2" Type="http://schemas.openxmlformats.org/officeDocument/2006/relationships/hyperlink" Target="https://react.dev/" TargetMode="External"/><Relationship Id="rId1" Type="http://schemas.openxmlformats.org/officeDocument/2006/relationships/slideLayout" Target="../slideLayouts/slideLayout6.xml"/><Relationship Id="rId6" Type="http://schemas.openxmlformats.org/officeDocument/2006/relationships/hyperlink" Target="https://supabase.com/docs" TargetMode="External"/><Relationship Id="rId5" Type="http://schemas.openxmlformats.org/officeDocument/2006/relationships/hyperlink" Target="https://tailwindcss.com/docs" TargetMode="External"/><Relationship Id="rId4" Type="http://schemas.openxmlformats.org/officeDocument/2006/relationships/hyperlink" Target="https://clerk.com/docs" TargetMode="External"/><Relationship Id="rId9" Type="http://schemas.openxmlformats.org/officeDocument/2006/relationships/hyperlink" Target="https://www.postgresql.org/doc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TextShape 1"/>
          <p:cNvSpPr/>
          <p:nvPr/>
        </p:nvSpPr>
        <p:spPr>
          <a:xfrm>
            <a:off x="0" y="840600"/>
            <a:ext cx="9143640" cy="6017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spcBef>
                <a:spcPts val="400"/>
              </a:spcBef>
            </a:pPr>
            <a:r>
              <a:rPr lang="en-IN" sz="1800" b="1" u="none" strike="noStrike" dirty="0">
                <a:solidFill>
                  <a:schemeClr val="dk1"/>
                </a:solidFill>
                <a:effectLst/>
                <a:uFillTx/>
                <a:latin typeface="Times New Roman"/>
                <a:ea typeface="Calibri"/>
              </a:rPr>
              <a:t>Project Presentation of CO-OP</a:t>
            </a:r>
            <a:endParaRPr lang="en-US" sz="1800" b="0" u="none" strike="noStrike" dirty="0">
              <a:solidFill>
                <a:srgbClr val="000000"/>
              </a:solidFill>
              <a:effectLst/>
              <a:uFillTx/>
              <a:latin typeface="Arial"/>
            </a:endParaRPr>
          </a:p>
          <a:p>
            <a:pPr algn="ctr" defTabSz="914400">
              <a:lnSpc>
                <a:spcPct val="100000"/>
              </a:lnSpc>
              <a:spcBef>
                <a:spcPts val="400"/>
              </a:spcBef>
            </a:pPr>
            <a:r>
              <a:rPr lang="en-US" sz="2000" b="0" u="none" strike="noStrike" dirty="0">
                <a:solidFill>
                  <a:schemeClr val="dk1"/>
                </a:solidFill>
                <a:effectLst/>
                <a:uFillTx/>
                <a:latin typeface="Times New Roman"/>
                <a:ea typeface="Calibri"/>
              </a:rPr>
              <a:t>On</a:t>
            </a:r>
            <a:endParaRPr lang="en-US" sz="2000" b="0" u="none" strike="noStrike" dirty="0">
              <a:solidFill>
                <a:srgbClr val="000000"/>
              </a:solidFill>
              <a:effectLst/>
              <a:uFillTx/>
              <a:latin typeface="Arial"/>
            </a:endParaRPr>
          </a:p>
          <a:p>
            <a:pPr algn="ctr" defTabSz="914400">
              <a:lnSpc>
                <a:spcPct val="100000"/>
              </a:lnSpc>
              <a:spcBef>
                <a:spcPts val="400"/>
              </a:spcBef>
            </a:pPr>
            <a:r>
              <a:rPr lang="en-US" sz="4800" dirty="0" err="1">
                <a:solidFill>
                  <a:schemeClr val="dk1"/>
                </a:solidFill>
                <a:latin typeface="Times New Roman"/>
                <a:ea typeface="Calibri"/>
              </a:rPr>
              <a:t>SarthiX-RaahSathi</a:t>
            </a:r>
            <a:endParaRPr lang="en-US" sz="4800" dirty="0">
              <a:solidFill>
                <a:schemeClr val="dk1"/>
              </a:solidFill>
              <a:latin typeface="Times New Roman"/>
              <a:ea typeface="Calibri"/>
            </a:endParaRPr>
          </a:p>
          <a:p>
            <a:pPr algn="ctr" defTabSz="914400">
              <a:lnSpc>
                <a:spcPct val="100000"/>
              </a:lnSpc>
              <a:spcBef>
                <a:spcPts val="400"/>
              </a:spcBef>
            </a:pPr>
            <a:endParaRPr lang="en-US" dirty="0">
              <a:solidFill>
                <a:schemeClr val="dk1"/>
              </a:solidFill>
              <a:latin typeface="Times New Roman"/>
              <a:ea typeface="Calibri"/>
            </a:endParaRPr>
          </a:p>
          <a:p>
            <a:pPr algn="ctr" defTabSz="914400">
              <a:lnSpc>
                <a:spcPct val="100000"/>
              </a:lnSpc>
              <a:spcBef>
                <a:spcPts val="400"/>
              </a:spcBef>
            </a:pPr>
            <a:r>
              <a:rPr lang="en-US" sz="2000" dirty="0"/>
              <a:t>Ashish Yadav (2210991404)</a:t>
            </a:r>
          </a:p>
          <a:p>
            <a:pPr algn="ctr" defTabSz="914400">
              <a:lnSpc>
                <a:spcPct val="100000"/>
              </a:lnSpc>
              <a:spcBef>
                <a:spcPts val="400"/>
              </a:spcBef>
            </a:pPr>
            <a:r>
              <a:rPr lang="en-US" sz="2000" dirty="0"/>
              <a:t>Hitesh Saini (2210991670)</a:t>
            </a:r>
            <a:br>
              <a:rPr sz="2000" dirty="0"/>
            </a:br>
            <a:r>
              <a:rPr lang="en-US" sz="2000" b="0" u="none" strike="noStrike" dirty="0">
                <a:solidFill>
                  <a:srgbClr val="000000"/>
                </a:solidFill>
                <a:effectLst/>
                <a:uFillTx/>
                <a:latin typeface="Times New Roman"/>
                <a:ea typeface="MS PGothic"/>
              </a:rPr>
              <a:t>Supervised By: </a:t>
            </a:r>
            <a:r>
              <a:rPr lang="en-US" sz="2000" dirty="0">
                <a:solidFill>
                  <a:srgbClr val="000000"/>
                </a:solidFill>
                <a:latin typeface="Times New Roman"/>
                <a:ea typeface="MS PGothic"/>
              </a:rPr>
              <a:t>Dr. Shikha Tuteja</a:t>
            </a:r>
          </a:p>
          <a:p>
            <a:pPr algn="ctr" defTabSz="914400">
              <a:lnSpc>
                <a:spcPct val="100000"/>
              </a:lnSpc>
              <a:spcBef>
                <a:spcPts val="400"/>
              </a:spcBef>
            </a:pPr>
            <a:endParaRPr lang="en-US" sz="2000" b="0" u="none" strike="noStrike" dirty="0">
              <a:solidFill>
                <a:srgbClr val="000000"/>
              </a:solidFill>
              <a:effectLst/>
              <a:uFillTx/>
              <a:latin typeface="Times New Roman"/>
              <a:ea typeface="MS PGothic"/>
            </a:endParaRPr>
          </a:p>
          <a:p>
            <a:pPr algn="ctr" defTabSz="914400">
              <a:lnSpc>
                <a:spcPct val="100000"/>
              </a:lnSpc>
              <a:spcBef>
                <a:spcPts val="400"/>
              </a:spcBef>
            </a:pPr>
            <a:endParaRPr lang="en-US" sz="2000" b="0" u="none" strike="noStrike" dirty="0">
              <a:solidFill>
                <a:srgbClr val="000000"/>
              </a:solidFill>
              <a:effectLst/>
              <a:uFillTx/>
              <a:latin typeface="Arial"/>
            </a:endParaRPr>
          </a:p>
          <a:p>
            <a:pPr algn="ctr" defTabSz="914400">
              <a:lnSpc>
                <a:spcPct val="100000"/>
              </a:lnSpc>
              <a:spcBef>
                <a:spcPts val="400"/>
              </a:spcBef>
            </a:pPr>
            <a:r>
              <a:rPr lang="en-US" sz="2400" b="0" u="none" strike="noStrike" dirty="0">
                <a:solidFill>
                  <a:schemeClr val="dk1"/>
                </a:solidFill>
                <a:effectLst/>
                <a:uFillTx/>
                <a:latin typeface="Times New Roman"/>
                <a:ea typeface="MS PGothic"/>
              </a:rPr>
              <a:t>Department of Computer Science and Engineering, </a:t>
            </a:r>
            <a:endParaRPr lang="en-US" sz="2400" b="0" u="none" strike="noStrike" dirty="0">
              <a:solidFill>
                <a:srgbClr val="000000"/>
              </a:solidFill>
              <a:effectLst/>
              <a:uFillTx/>
              <a:latin typeface="Arial"/>
            </a:endParaRPr>
          </a:p>
          <a:p>
            <a:pPr algn="ctr" defTabSz="914400">
              <a:lnSpc>
                <a:spcPct val="100000"/>
              </a:lnSpc>
              <a:spcBef>
                <a:spcPts val="400"/>
              </a:spcBef>
            </a:pPr>
            <a:r>
              <a:rPr lang="en-US" sz="2400" b="0" u="none" strike="noStrike" dirty="0">
                <a:solidFill>
                  <a:schemeClr val="dk1"/>
                </a:solidFill>
                <a:effectLst/>
                <a:uFillTx/>
                <a:latin typeface="Times New Roman"/>
                <a:ea typeface="MS PGothic"/>
              </a:rPr>
              <a:t>Chitkara University, Punjab</a:t>
            </a:r>
            <a:endParaRPr lang="en-US" sz="2400" b="0" u="none" strike="noStrike" dirty="0">
              <a:solidFill>
                <a:srgbClr val="000000"/>
              </a:solidFill>
              <a:effectLst/>
              <a:uFillTx/>
              <a:latin typeface="Arial"/>
            </a:endParaRPr>
          </a:p>
          <a:p>
            <a:pPr algn="ctr" defTabSz="914400">
              <a:lnSpc>
                <a:spcPct val="150000"/>
              </a:lnSpc>
              <a:spcBef>
                <a:spcPts val="400"/>
              </a:spcBef>
            </a:pPr>
            <a:endParaRPr lang="en-US" sz="2000" b="0" u="none" strike="noStrike" dirty="0">
              <a:solidFill>
                <a:srgbClr val="000000"/>
              </a:solidFill>
              <a:effectLst/>
              <a:uFillTx/>
              <a:latin typeface="Arial"/>
            </a:endParaRPr>
          </a:p>
          <a:p>
            <a:pPr defTabSz="914400">
              <a:lnSpc>
                <a:spcPct val="100000"/>
              </a:lnSpc>
              <a:spcBef>
                <a:spcPts val="641"/>
              </a:spcBef>
            </a:pPr>
            <a:endParaRPr lang="en-US" sz="20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Shape 1"/>
          <p:cNvSpPr/>
          <p:nvPr/>
        </p:nvSpPr>
        <p:spPr>
          <a:xfrm>
            <a:off x="350640" y="0"/>
            <a:ext cx="6019200" cy="837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3200" b="0" u="none" strike="noStrike">
                <a:solidFill>
                  <a:schemeClr val="dk1"/>
                </a:solidFill>
                <a:effectLst/>
                <a:uFillTx/>
                <a:latin typeface="Times New Roman"/>
                <a:ea typeface="DejaVu Sans"/>
              </a:rPr>
              <a:t>Introduction</a:t>
            </a:r>
            <a:endParaRPr lang="en-US" sz="3200" b="0" u="none" strike="noStrike">
              <a:solidFill>
                <a:srgbClr val="000000"/>
              </a:solidFill>
              <a:effectLst/>
              <a:uFillTx/>
              <a:latin typeface="Arial"/>
            </a:endParaRPr>
          </a:p>
        </p:txBody>
      </p:sp>
      <p:sp>
        <p:nvSpPr>
          <p:cNvPr id="227"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21D82352-9756-476F-A9CF-4775124B2ADF}" type="slidenum">
              <a:rPr lang="en-US" sz="1200" b="1" u="none" strike="noStrike">
                <a:solidFill>
                  <a:srgbClr val="000000"/>
                </a:solidFill>
                <a:effectLst/>
                <a:uFillTx/>
                <a:latin typeface="Calibri"/>
                <a:ea typeface="MS PGothic"/>
              </a:rPr>
              <a:t>2</a:t>
            </a:fld>
            <a:endParaRPr lang="en-US" sz="1200" b="0" u="none" strike="noStrike">
              <a:solidFill>
                <a:srgbClr val="000000"/>
              </a:solidFill>
              <a:effectLst/>
              <a:uFillTx/>
              <a:latin typeface="Arial"/>
            </a:endParaRPr>
          </a:p>
        </p:txBody>
      </p:sp>
      <p:sp>
        <p:nvSpPr>
          <p:cNvPr id="228" name="TextShape 2"/>
          <p:cNvSpPr/>
          <p:nvPr/>
        </p:nvSpPr>
        <p:spPr>
          <a:xfrm>
            <a:off x="164160" y="1109880"/>
            <a:ext cx="8838360" cy="5359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spcBef>
                <a:spcPts val="1191"/>
              </a:spcBef>
              <a:spcAft>
                <a:spcPts val="992"/>
              </a:spcAft>
            </a:pPr>
            <a:r>
              <a:rPr lang="en-US" sz="2000" b="1" u="none" strike="noStrike" dirty="0">
                <a:solidFill>
                  <a:srgbClr val="000000"/>
                </a:solidFill>
                <a:effectLst/>
                <a:uFillTx/>
                <a:latin typeface="Times New Roman"/>
                <a:ea typeface="DejaVu Sans"/>
              </a:rPr>
              <a:t>2.1 Background</a:t>
            </a:r>
            <a:endParaRPr lang="en-US" sz="2000" b="0" u="none" strike="noStrike" dirty="0">
              <a:solidFill>
                <a:srgbClr val="000000"/>
              </a:solidFill>
              <a:effectLst/>
              <a:uFillTx/>
              <a:latin typeface="Arial"/>
            </a:endParaRPr>
          </a:p>
          <a:p>
            <a:pPr marL="285750" indent="-285750">
              <a:buFont typeface="Arial" panose="020B0604020202020204" pitchFamily="34" charset="0"/>
              <a:buChar char="•"/>
            </a:pPr>
            <a:r>
              <a:rPr lang="en-US" sz="1600" dirty="0"/>
              <a:t>Lack of structured shipment allocation system</a:t>
            </a:r>
          </a:p>
          <a:p>
            <a:pPr marL="285750" indent="-285750">
              <a:buFont typeface="Arial" panose="020B0604020202020204" pitchFamily="34" charset="0"/>
              <a:buChar char="•"/>
            </a:pPr>
            <a:r>
              <a:rPr lang="en-US" sz="1600" dirty="0"/>
              <a:t>Income instability for drivers</a:t>
            </a:r>
          </a:p>
          <a:p>
            <a:pPr marL="285750" indent="-285750">
              <a:buFont typeface="Arial" panose="020B0604020202020204" pitchFamily="34" charset="0"/>
              <a:buChar char="•"/>
            </a:pPr>
            <a:r>
              <a:rPr lang="en-US" sz="1600" dirty="0"/>
              <a:t>No transparent bidding mechanism</a:t>
            </a:r>
          </a:p>
          <a:p>
            <a:pPr marL="285750" indent="-285750">
              <a:buFont typeface="Arial" panose="020B0604020202020204" pitchFamily="34" charset="0"/>
              <a:buChar char="•"/>
            </a:pPr>
            <a:r>
              <a:rPr lang="en-US" sz="1600" dirty="0"/>
              <a:t>Permit expiration leads to penalties</a:t>
            </a:r>
          </a:p>
          <a:p>
            <a:pPr marL="285750" indent="-285750">
              <a:buFont typeface="Arial" panose="020B0604020202020204" pitchFamily="34" charset="0"/>
              <a:buChar char="•"/>
            </a:pPr>
            <a:r>
              <a:rPr lang="en-US" sz="1600" dirty="0"/>
              <a:t>Limited real-time shipment tracking</a:t>
            </a:r>
          </a:p>
          <a:p>
            <a:endParaRPr lang="en-US" sz="1600" b="1" u="none" strike="noStrike" dirty="0">
              <a:solidFill>
                <a:srgbClr val="000000"/>
              </a:solidFill>
              <a:effectLst/>
              <a:uFillTx/>
              <a:latin typeface="Times New Roman"/>
              <a:ea typeface="DejaVu Sans"/>
            </a:endParaRPr>
          </a:p>
          <a:p>
            <a:endParaRPr lang="en-US" sz="1600" b="1" dirty="0">
              <a:solidFill>
                <a:srgbClr val="000000"/>
              </a:solidFill>
              <a:latin typeface="Times New Roman"/>
              <a:ea typeface="DejaVu Sans"/>
            </a:endParaRPr>
          </a:p>
          <a:p>
            <a:endParaRPr lang="en-US" sz="1600" b="1" u="none" strike="noStrike" dirty="0">
              <a:solidFill>
                <a:srgbClr val="000000"/>
              </a:solidFill>
              <a:effectLst/>
              <a:uFillTx/>
              <a:latin typeface="Times New Roman"/>
              <a:ea typeface="DejaVu Sans"/>
            </a:endParaRPr>
          </a:p>
          <a:p>
            <a:endParaRPr lang="en-US" sz="1600" b="1" u="none" strike="noStrike" dirty="0">
              <a:solidFill>
                <a:srgbClr val="000000"/>
              </a:solidFill>
              <a:effectLst/>
              <a:uFillTx/>
              <a:latin typeface="Times New Roman"/>
              <a:ea typeface="DejaVu Sans"/>
            </a:endParaRPr>
          </a:p>
          <a:p>
            <a:r>
              <a:rPr lang="en-US" sz="2000" b="1" u="none" strike="noStrike" dirty="0">
                <a:solidFill>
                  <a:srgbClr val="000000"/>
                </a:solidFill>
                <a:effectLst/>
                <a:uFillTx/>
                <a:latin typeface="Times New Roman"/>
                <a:ea typeface="DejaVu Sans"/>
              </a:rPr>
              <a:t>2.2 Problem Statement</a:t>
            </a:r>
            <a:endParaRPr lang="en-US" sz="2000" b="0" u="none" strike="noStrike" dirty="0">
              <a:solidFill>
                <a:srgbClr val="000000"/>
              </a:solidFill>
              <a:effectLst/>
              <a:uFillTx/>
              <a:latin typeface="Arial"/>
            </a:endParaRPr>
          </a:p>
          <a:p>
            <a:pPr marL="285750" indent="-285750">
              <a:buFont typeface="Arial" panose="020B0604020202020204" pitchFamily="34" charset="0"/>
              <a:buChar char="•"/>
            </a:pPr>
            <a:r>
              <a:rPr lang="en-US" sz="1600" dirty="0"/>
              <a:t>Develop a digital driver–shipper marketplace</a:t>
            </a:r>
          </a:p>
          <a:p>
            <a:pPr marL="285750" indent="-285750">
              <a:buFont typeface="Arial" panose="020B0604020202020204" pitchFamily="34" charset="0"/>
              <a:buChar char="•"/>
            </a:pPr>
            <a:r>
              <a:rPr lang="en-US" sz="1600" dirty="0"/>
              <a:t>Introduce transparent real-time bidding system</a:t>
            </a:r>
          </a:p>
          <a:p>
            <a:pPr marL="285750" indent="-285750">
              <a:buFont typeface="Arial" panose="020B0604020202020204" pitchFamily="34" charset="0"/>
              <a:buChar char="•"/>
            </a:pPr>
            <a:r>
              <a:rPr lang="en-US" sz="1600" dirty="0"/>
              <a:t>Provide automated permit notifications</a:t>
            </a:r>
          </a:p>
          <a:p>
            <a:pPr marL="285750" indent="-285750">
              <a:buFont typeface="Arial" panose="020B0604020202020204" pitchFamily="34" charset="0"/>
              <a:buChar char="•"/>
            </a:pPr>
            <a:r>
              <a:rPr lang="en-US" sz="1600" dirty="0"/>
              <a:t>Improve compliance and operational efficiency</a:t>
            </a:r>
          </a:p>
          <a:p>
            <a:pPr>
              <a:spcBef>
                <a:spcPts val="1191"/>
              </a:spcBef>
              <a:spcAft>
                <a:spcPts val="992"/>
              </a:spcAft>
            </a:pPr>
            <a:r>
              <a:rPr lang="en-US" sz="1600" dirty="0"/>
              <a:t>.</a:t>
            </a:r>
          </a:p>
          <a:p>
            <a:pPr>
              <a:spcBef>
                <a:spcPts val="1191"/>
              </a:spcBef>
              <a:spcAft>
                <a:spcPts val="992"/>
              </a:spcAft>
            </a:pPr>
            <a:endParaRPr lang="en-US" sz="1600" b="1" u="none" strike="noStrike" dirty="0">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0" y="246960"/>
            <a:ext cx="7680600" cy="585000"/>
          </a:xfrm>
          <a:prstGeom prst="rect">
            <a:avLst/>
          </a:prstGeom>
          <a:noFill/>
          <a:ln w="0">
            <a:noFill/>
          </a:ln>
        </p:spPr>
        <p:txBody>
          <a:bodyPr lIns="0" tIns="0" rIns="0" bIns="0" anchor="ctr">
            <a:noAutofit/>
          </a:bodyPr>
          <a:lstStyle/>
          <a:p>
            <a:pPr indent="0" defTabSz="914400">
              <a:lnSpc>
                <a:spcPct val="90000"/>
              </a:lnSpc>
              <a:buNone/>
            </a:pPr>
            <a:r>
              <a:rPr lang="en-US" sz="4400" b="1" u="none" strike="noStrike" dirty="0">
                <a:solidFill>
                  <a:schemeClr val="dk1"/>
                </a:solidFill>
                <a:effectLst/>
                <a:uFillTx/>
                <a:latin typeface="Arial"/>
                <a:ea typeface="DejaVu Sans"/>
              </a:rPr>
              <a:t> </a:t>
            </a:r>
            <a:r>
              <a:rPr lang="en-US" sz="2000" b="1" u="none" strike="noStrike" dirty="0">
                <a:solidFill>
                  <a:schemeClr val="dk1"/>
                </a:solidFill>
                <a:effectLst/>
                <a:uFillTx/>
                <a:latin typeface="Arial"/>
                <a:ea typeface="DejaVu Sans"/>
              </a:rPr>
              <a:t>Software and Hardware Requirement Specification</a:t>
            </a:r>
            <a:br>
              <a:rPr sz="3200" dirty="0"/>
            </a:br>
            <a:endParaRPr lang="en-US" sz="2000" b="0" u="none" strike="noStrike" dirty="0">
              <a:solidFill>
                <a:schemeClr val="dk1"/>
              </a:solidFill>
              <a:effectLst/>
              <a:uFillTx/>
              <a:latin typeface="Arial"/>
            </a:endParaRPr>
          </a:p>
        </p:txBody>
      </p:sp>
      <p:sp>
        <p:nvSpPr>
          <p:cNvPr id="230" name="PlaceHolder 2"/>
          <p:cNvSpPr>
            <a:spLocks noGrp="1"/>
          </p:cNvSpPr>
          <p:nvPr>
            <p:ph/>
          </p:nvPr>
        </p:nvSpPr>
        <p:spPr>
          <a:xfrm>
            <a:off x="9832" y="907498"/>
            <a:ext cx="8907840" cy="5687640"/>
          </a:xfrm>
          <a:prstGeom prst="rect">
            <a:avLst/>
          </a:prstGeom>
          <a:noFill/>
          <a:ln w="0">
            <a:noFill/>
          </a:ln>
        </p:spPr>
        <p:txBody>
          <a:bodyPr lIns="0" tIns="0" rIns="0" bIns="0" anchor="t">
            <a:normAutofit fontScale="85000" lnSpcReduction="9999"/>
          </a:bodyPr>
          <a:lstStyle/>
          <a:p>
            <a:pPr defTabSz="914400">
              <a:lnSpc>
                <a:spcPct val="90000"/>
              </a:lnSpc>
              <a:spcBef>
                <a:spcPts val="1001"/>
              </a:spcBef>
              <a:buClr>
                <a:srgbClr val="000000"/>
              </a:buClr>
            </a:pPr>
            <a:r>
              <a:rPr lang="en-IN" sz="2000" b="1" u="none" strike="noStrike" dirty="0">
                <a:solidFill>
                  <a:schemeClr val="dk1"/>
                </a:solidFill>
                <a:effectLst/>
                <a:uFillTx/>
                <a:latin typeface="Times New Roman"/>
                <a:ea typeface="Calibri"/>
              </a:rPr>
              <a:t>3.1 Methods</a:t>
            </a:r>
          </a:p>
          <a:p>
            <a:pPr marL="228600" indent="-228600" algn="just">
              <a:lnSpc>
                <a:spcPct val="119999"/>
              </a:lnSpc>
              <a:spcBef>
                <a:spcPts val="1001"/>
              </a:spcBef>
              <a:buClr>
                <a:srgbClr val="000000"/>
              </a:buClr>
              <a:buFont typeface="Arial"/>
              <a:buChar char="•"/>
            </a:pPr>
            <a:r>
              <a:rPr lang="en-US" sz="1700" dirty="0"/>
              <a:t>The development methodology for </a:t>
            </a:r>
            <a:r>
              <a:rPr lang="en-US" sz="1700" b="1" dirty="0" err="1"/>
              <a:t>SarthiX-RaahSathi</a:t>
            </a:r>
            <a:r>
              <a:rPr lang="en-US" sz="1700" dirty="0"/>
              <a:t> follows Agile principles, emphasizing iterative progress, flexibility, and continuous user feedback. The project is divided into multiple sprints, with each sprint focusing on the design, development, and testing of specific system modules such as user authentication, bidding management, shipment tracking, and permit notification system. Continuous integration and testing ensure reliability and scalability of the platform.</a:t>
            </a:r>
          </a:p>
          <a:p>
            <a:pPr marL="228600" indent="-228600" algn="just">
              <a:lnSpc>
                <a:spcPct val="119999"/>
              </a:lnSpc>
              <a:spcBef>
                <a:spcPts val="1001"/>
              </a:spcBef>
              <a:buClr>
                <a:srgbClr val="000000"/>
              </a:buClr>
              <a:buFont typeface="Arial"/>
              <a:buChar char="•"/>
            </a:pPr>
            <a:endParaRPr lang="en-US" sz="1700" b="0" u="none" strike="noStrike" dirty="0">
              <a:solidFill>
                <a:schemeClr val="dk1"/>
              </a:solidFill>
              <a:effectLst/>
              <a:uFillTx/>
              <a:latin typeface="Arial"/>
            </a:endParaRPr>
          </a:p>
          <a:p>
            <a:pPr>
              <a:spcBef>
                <a:spcPts val="1001"/>
              </a:spcBef>
              <a:buClr>
                <a:srgbClr val="000000"/>
              </a:buClr>
            </a:pPr>
            <a:r>
              <a:rPr lang="en-IN" sz="2000" b="1" u="none" strike="noStrike" dirty="0">
                <a:solidFill>
                  <a:schemeClr val="dk1"/>
                </a:solidFill>
                <a:effectLst/>
                <a:uFillTx/>
                <a:latin typeface="Times New Roman"/>
                <a:ea typeface="Calibri"/>
              </a:rPr>
              <a:t>3.2 Programming/Working Environment</a:t>
            </a:r>
            <a:endParaRPr lang="en-US" sz="2000" b="0" u="none" strike="noStrike" dirty="0">
              <a:solidFill>
                <a:schemeClr val="dk1"/>
              </a:solidFill>
              <a:effectLst/>
              <a:uFillTx/>
              <a:latin typeface="Arial"/>
            </a:endParaRPr>
          </a:p>
          <a:p>
            <a:pPr>
              <a:lnSpc>
                <a:spcPct val="119999"/>
              </a:lnSpc>
              <a:spcBef>
                <a:spcPts val="1001"/>
              </a:spcBef>
              <a:buClr>
                <a:srgbClr val="000000"/>
              </a:buClr>
            </a:pPr>
            <a:r>
              <a:rPr lang="en-IN" sz="1800" b="1" dirty="0">
                <a:solidFill>
                  <a:schemeClr val="dk1"/>
                </a:solidFill>
                <a:latin typeface="Times New Roman"/>
                <a:ea typeface="Calibri"/>
              </a:rPr>
              <a:t>     </a:t>
            </a:r>
            <a:r>
              <a:rPr lang="en-IN" sz="1800" b="1" dirty="0"/>
              <a:t>Programming Language:</a:t>
            </a:r>
            <a:r>
              <a:rPr lang="en-IN" sz="1800" dirty="0"/>
              <a:t> JavaScript (Vite + React for the frontend)</a:t>
            </a:r>
            <a:br>
              <a:rPr lang="en-IN" sz="1800" dirty="0"/>
            </a:br>
            <a:r>
              <a:rPr lang="en-IN" sz="1800" dirty="0"/>
              <a:t>    </a:t>
            </a:r>
            <a:r>
              <a:rPr lang="en-IN" sz="1800" b="1" dirty="0"/>
              <a:t>Backend &amp; Database:</a:t>
            </a:r>
            <a:r>
              <a:rPr lang="en-IN" sz="1800" dirty="0"/>
              <a:t> </a:t>
            </a:r>
            <a:r>
              <a:rPr lang="en-IN" sz="1800" dirty="0" err="1"/>
              <a:t>Supabase</a:t>
            </a:r>
            <a:r>
              <a:rPr lang="en-IN" sz="1800" dirty="0"/>
              <a:t> (PostgreSQL-based backend services)</a:t>
            </a:r>
            <a:br>
              <a:rPr lang="en-IN" sz="1800" dirty="0"/>
            </a:br>
            <a:r>
              <a:rPr lang="en-IN" sz="1800" dirty="0"/>
              <a:t>    </a:t>
            </a:r>
            <a:r>
              <a:rPr lang="en-IN" sz="1800" b="1" dirty="0"/>
              <a:t>Authentication:</a:t>
            </a:r>
            <a:r>
              <a:rPr lang="en-IN" sz="1800" dirty="0"/>
              <a:t> Clerk (Secure user authentication &amp; role management)</a:t>
            </a:r>
            <a:br>
              <a:rPr lang="en-IN" sz="1800" dirty="0"/>
            </a:br>
            <a:r>
              <a:rPr lang="en-IN" sz="1800" dirty="0"/>
              <a:t>    </a:t>
            </a:r>
            <a:r>
              <a:rPr lang="en-IN" sz="1800" b="1" dirty="0"/>
              <a:t>Communication:</a:t>
            </a:r>
            <a:r>
              <a:rPr lang="en-IN" sz="1800" dirty="0"/>
              <a:t> REST APIs for client-server interaction</a:t>
            </a:r>
            <a:br>
              <a:rPr lang="en-IN" sz="1800" dirty="0"/>
            </a:br>
            <a:r>
              <a:rPr lang="en-IN" sz="1800" dirty="0"/>
              <a:t>    </a:t>
            </a:r>
            <a:r>
              <a:rPr lang="en-IN" sz="1800" b="1" dirty="0"/>
              <a:t>Architecture:</a:t>
            </a:r>
            <a:r>
              <a:rPr lang="en-IN" sz="1800" dirty="0"/>
              <a:t> Client-Server Architecture Model</a:t>
            </a:r>
          </a:p>
          <a:p>
            <a:pPr>
              <a:spcBef>
                <a:spcPts val="1001"/>
              </a:spcBef>
              <a:buClr>
                <a:srgbClr val="000000"/>
              </a:buClr>
            </a:pPr>
            <a:r>
              <a:rPr lang="en-US" sz="2000" b="1" u="none" strike="noStrike" dirty="0">
                <a:solidFill>
                  <a:schemeClr val="dk1"/>
                </a:solidFill>
                <a:effectLst/>
                <a:uFillTx/>
                <a:latin typeface="Times New Roman"/>
                <a:ea typeface="Calibri"/>
              </a:rPr>
              <a:t>3.3 Requirements to run the application</a:t>
            </a:r>
            <a:endParaRPr lang="en-US" sz="2000" b="0" u="none" strike="noStrike" dirty="0">
              <a:solidFill>
                <a:schemeClr val="dk1"/>
              </a:solidFill>
              <a:effectLst/>
              <a:uFillTx/>
              <a:latin typeface="Arial"/>
            </a:endParaRPr>
          </a:p>
          <a:p>
            <a:pPr>
              <a:lnSpc>
                <a:spcPct val="119999"/>
              </a:lnSpc>
              <a:spcBef>
                <a:spcPts val="1001"/>
              </a:spcBef>
              <a:buClr>
                <a:srgbClr val="000000"/>
              </a:buClr>
            </a:pPr>
            <a:r>
              <a:rPr lang="en-IN" sz="1900" b="1" dirty="0"/>
              <a:t>   Operating System:</a:t>
            </a:r>
            <a:r>
              <a:rPr lang="en-IN" sz="1900" dirty="0"/>
              <a:t> Windows 10 / Linux / MacOS</a:t>
            </a:r>
            <a:br>
              <a:rPr lang="en-IN" sz="1900" dirty="0"/>
            </a:br>
            <a:r>
              <a:rPr lang="en-IN" sz="1900" dirty="0"/>
              <a:t>   </a:t>
            </a:r>
            <a:r>
              <a:rPr lang="en-IN" sz="1900" b="1" dirty="0"/>
              <a:t>RAM:</a:t>
            </a:r>
            <a:r>
              <a:rPr lang="en-IN" sz="1900" dirty="0"/>
              <a:t> Minimum 8GB</a:t>
            </a:r>
            <a:br>
              <a:rPr lang="en-IN" sz="1900" dirty="0"/>
            </a:br>
            <a:r>
              <a:rPr lang="en-IN" sz="1900" dirty="0"/>
              <a:t>   </a:t>
            </a:r>
            <a:r>
              <a:rPr lang="en-IN" sz="1900" b="1" dirty="0"/>
              <a:t>Processor:</a:t>
            </a:r>
            <a:r>
              <a:rPr lang="en-IN" sz="1900" dirty="0"/>
              <a:t> Intel i5 or equivalent</a:t>
            </a:r>
            <a:br>
              <a:rPr lang="en-IN" sz="1900" dirty="0"/>
            </a:br>
            <a:r>
              <a:rPr lang="en-IN" sz="1900" dirty="0"/>
              <a:t>   </a:t>
            </a:r>
            <a:r>
              <a:rPr lang="en-IN" sz="1900" b="1" dirty="0"/>
              <a:t>Software Dependencies:</a:t>
            </a:r>
            <a:r>
              <a:rPr lang="en-IN" sz="1900" dirty="0"/>
              <a:t> Node.js, </a:t>
            </a:r>
            <a:r>
              <a:rPr lang="en-IN" sz="1900" dirty="0" err="1"/>
              <a:t>npm</a:t>
            </a:r>
            <a:r>
              <a:rPr lang="en-IN" sz="1900" dirty="0"/>
              <a:t>, </a:t>
            </a:r>
            <a:r>
              <a:rPr lang="en-IN" sz="1900" dirty="0" err="1"/>
              <a:t>Supabase</a:t>
            </a:r>
            <a:r>
              <a:rPr lang="en-IN" sz="1900" dirty="0"/>
              <a:t> configuration, Clerk setup</a:t>
            </a:r>
            <a:br>
              <a:rPr lang="en-IN" sz="1900" dirty="0"/>
            </a:br>
            <a:r>
              <a:rPr lang="en-IN" sz="1900" dirty="0"/>
              <a:t>   </a:t>
            </a:r>
            <a:r>
              <a:rPr lang="en-IN" sz="1900" b="1" dirty="0"/>
              <a:t>Browser:</a:t>
            </a:r>
            <a:r>
              <a:rPr lang="en-IN" sz="1900" dirty="0"/>
              <a:t> Latest versions of Chrome, Firefox, or Safari</a:t>
            </a:r>
            <a:endParaRPr lang="en-US" sz="1900" b="0" u="none" strike="noStrike" dirty="0">
              <a:solidFill>
                <a:schemeClr val="dk1"/>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TextShape 1"/>
          <p:cNvSpPr/>
          <p:nvPr/>
        </p:nvSpPr>
        <p:spPr>
          <a:xfrm>
            <a:off x="350640" y="0"/>
            <a:ext cx="6019200" cy="837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3000" b="0" u="none" strike="noStrike" dirty="0">
                <a:solidFill>
                  <a:srgbClr val="000000"/>
                </a:solidFill>
                <a:effectLst/>
                <a:uFillTx/>
                <a:latin typeface="Times New Roman"/>
                <a:ea typeface="DejaVu Sans"/>
              </a:rPr>
              <a:t>Keywords</a:t>
            </a:r>
            <a:endParaRPr lang="en-US" sz="3000" b="0" u="none" strike="noStrike" dirty="0">
              <a:solidFill>
                <a:srgbClr val="000000"/>
              </a:solidFill>
              <a:effectLst/>
              <a:uFillTx/>
              <a:latin typeface="Arial"/>
            </a:endParaRPr>
          </a:p>
        </p:txBody>
      </p:sp>
      <p:sp>
        <p:nvSpPr>
          <p:cNvPr id="232"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E954CB02-ED6A-49F1-8128-1148FABE90FA}" type="slidenum">
              <a:rPr lang="en-US" sz="1200" b="1" u="none" strike="noStrike">
                <a:solidFill>
                  <a:srgbClr val="000000"/>
                </a:solidFill>
                <a:effectLst/>
                <a:uFillTx/>
                <a:latin typeface="Calibri"/>
                <a:ea typeface="MS PGothic"/>
              </a:rPr>
              <a:t>4</a:t>
            </a:fld>
            <a:endParaRPr lang="en-US" sz="1200" b="0" u="none" strike="noStrike">
              <a:solidFill>
                <a:srgbClr val="000000"/>
              </a:solidFill>
              <a:effectLst/>
              <a:uFillTx/>
              <a:latin typeface="Arial"/>
            </a:endParaRPr>
          </a:p>
        </p:txBody>
      </p:sp>
      <p:sp>
        <p:nvSpPr>
          <p:cNvPr id="233" name="TextShape 2"/>
          <p:cNvSpPr/>
          <p:nvPr/>
        </p:nvSpPr>
        <p:spPr>
          <a:xfrm>
            <a:off x="164160" y="1109880"/>
            <a:ext cx="8838360" cy="5359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a:spcBef>
                <a:spcPts val="400"/>
              </a:spcBef>
              <a:buClr>
                <a:srgbClr val="000000"/>
              </a:buClr>
              <a:buFont typeface="Arial"/>
              <a:buChar char="•"/>
            </a:pPr>
            <a:r>
              <a:rPr lang="en-IN" sz="1600" dirty="0"/>
              <a:t>Logistics management system</a:t>
            </a:r>
          </a:p>
          <a:p>
            <a:pPr marL="343080" indent="-343080">
              <a:spcBef>
                <a:spcPts val="400"/>
              </a:spcBef>
              <a:buClr>
                <a:srgbClr val="000000"/>
              </a:buClr>
              <a:buFont typeface="Arial"/>
              <a:buChar char="•"/>
            </a:pPr>
            <a:r>
              <a:rPr lang="en-IN" sz="1600" dirty="0"/>
              <a:t> Driver–Shipper marketplace</a:t>
            </a:r>
          </a:p>
          <a:p>
            <a:pPr marL="343080" indent="-343080">
              <a:spcBef>
                <a:spcPts val="400"/>
              </a:spcBef>
              <a:buClr>
                <a:srgbClr val="000000"/>
              </a:buClr>
              <a:buFont typeface="Arial"/>
              <a:buChar char="•"/>
            </a:pPr>
            <a:r>
              <a:rPr lang="en-IN" sz="1600" dirty="0"/>
              <a:t>Real-time bidding system</a:t>
            </a:r>
          </a:p>
          <a:p>
            <a:pPr marL="343080" indent="-343080">
              <a:spcBef>
                <a:spcPts val="400"/>
              </a:spcBef>
              <a:buClr>
                <a:srgbClr val="000000"/>
              </a:buClr>
              <a:buFont typeface="Arial"/>
              <a:buChar char="•"/>
            </a:pPr>
            <a:r>
              <a:rPr lang="en-IN" sz="1600" dirty="0"/>
              <a:t> Shipment tracking</a:t>
            </a:r>
          </a:p>
          <a:p>
            <a:pPr marL="343080" indent="-343080">
              <a:spcBef>
                <a:spcPts val="400"/>
              </a:spcBef>
              <a:buClr>
                <a:srgbClr val="000000"/>
              </a:buClr>
              <a:buFont typeface="Arial"/>
              <a:buChar char="•"/>
            </a:pPr>
            <a:r>
              <a:rPr lang="en-IN" sz="1600" dirty="0"/>
              <a:t> Permit management</a:t>
            </a:r>
          </a:p>
          <a:p>
            <a:pPr marL="343080" indent="-343080">
              <a:spcBef>
                <a:spcPts val="400"/>
              </a:spcBef>
              <a:buClr>
                <a:srgbClr val="000000"/>
              </a:buClr>
              <a:buFont typeface="Arial"/>
              <a:buChar char="•"/>
            </a:pPr>
            <a:r>
              <a:rPr lang="en-IN" sz="1600" dirty="0"/>
              <a:t> Automated permit notification</a:t>
            </a:r>
          </a:p>
          <a:p>
            <a:pPr marL="343080" indent="-343080">
              <a:spcBef>
                <a:spcPts val="400"/>
              </a:spcBef>
              <a:buClr>
                <a:srgbClr val="000000"/>
              </a:buClr>
              <a:buFont typeface="Arial"/>
              <a:buChar char="•"/>
            </a:pPr>
            <a:r>
              <a:rPr lang="en-IN" sz="1600" dirty="0"/>
              <a:t> Transportation technology</a:t>
            </a:r>
          </a:p>
          <a:p>
            <a:pPr marL="343080" indent="-343080">
              <a:spcBef>
                <a:spcPts val="400"/>
              </a:spcBef>
              <a:buClr>
                <a:srgbClr val="000000"/>
              </a:buClr>
              <a:buFont typeface="Arial"/>
              <a:buChar char="•"/>
            </a:pPr>
            <a:r>
              <a:rPr lang="en-IN" sz="1600" dirty="0"/>
              <a:t> Clerk authentication</a:t>
            </a:r>
          </a:p>
          <a:p>
            <a:pPr marL="343080" indent="-343080">
              <a:spcBef>
                <a:spcPts val="400"/>
              </a:spcBef>
              <a:buClr>
                <a:srgbClr val="000000"/>
              </a:buClr>
              <a:buFont typeface="Arial"/>
              <a:buChar char="•"/>
            </a:pPr>
            <a:r>
              <a:rPr lang="en-IN" sz="1600" dirty="0"/>
              <a:t> Role-based access control</a:t>
            </a:r>
          </a:p>
          <a:p>
            <a:pPr marL="343080" indent="-343080">
              <a:spcBef>
                <a:spcPts val="400"/>
              </a:spcBef>
              <a:buClr>
                <a:srgbClr val="000000"/>
              </a:buClr>
              <a:buFont typeface="Arial"/>
              <a:buChar char="•"/>
            </a:pPr>
            <a:r>
              <a:rPr lang="en-IN" sz="1600" dirty="0"/>
              <a:t> Digital freight platform</a:t>
            </a:r>
          </a:p>
          <a:p>
            <a:pPr marL="343080" indent="-343080">
              <a:spcBef>
                <a:spcPts val="400"/>
              </a:spcBef>
              <a:buClr>
                <a:srgbClr val="000000"/>
              </a:buClr>
              <a:buFont typeface="Arial"/>
              <a:buChar char="•"/>
            </a:pPr>
            <a:r>
              <a:rPr lang="en-IN" sz="1600" dirty="0"/>
              <a:t> Load allocation system.</a:t>
            </a:r>
            <a:endParaRPr lang="en-US" sz="2000" b="0" u="none" strike="noStrike" dirty="0">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0" y="0"/>
            <a:ext cx="6931440" cy="913680"/>
          </a:xfrm>
          <a:prstGeom prst="rect">
            <a:avLst/>
          </a:prstGeom>
          <a:noFill/>
          <a:ln w="0">
            <a:noFill/>
          </a:ln>
        </p:spPr>
        <p:txBody>
          <a:bodyPr lIns="0" tIns="0" rIns="0" bIns="0" anchor="ctr">
            <a:noAutofit/>
          </a:bodyPr>
          <a:lstStyle/>
          <a:p>
            <a:pPr indent="0" defTabSz="914400">
              <a:lnSpc>
                <a:spcPct val="90000"/>
              </a:lnSpc>
              <a:buNone/>
            </a:pPr>
            <a:r>
              <a:rPr lang="en-US" sz="2000" b="0" u="none" strike="noStrike" dirty="0">
                <a:solidFill>
                  <a:schemeClr val="dk1"/>
                </a:solidFill>
                <a:effectLst/>
                <a:uFillTx/>
                <a:latin typeface="Arial"/>
              </a:rPr>
              <a:t>   </a:t>
            </a:r>
            <a:r>
              <a:rPr lang="en-US" sz="2000" b="0" u="none" strike="noStrike" dirty="0" err="1">
                <a:solidFill>
                  <a:schemeClr val="dk1"/>
                </a:solidFill>
                <a:effectLst/>
                <a:uFillTx/>
                <a:latin typeface="Arial"/>
              </a:rPr>
              <a:t>Supabase</a:t>
            </a:r>
            <a:r>
              <a:rPr lang="en-US" sz="2000" b="0" u="none" strike="noStrike" dirty="0">
                <a:solidFill>
                  <a:schemeClr val="dk1"/>
                </a:solidFill>
                <a:effectLst/>
                <a:uFillTx/>
                <a:latin typeface="Arial"/>
              </a:rPr>
              <a:t> Overview</a:t>
            </a:r>
          </a:p>
        </p:txBody>
      </p:sp>
      <p:pic>
        <p:nvPicPr>
          <p:cNvPr id="4" name="Picture 3">
            <a:extLst>
              <a:ext uri="{FF2B5EF4-FFF2-40B4-BE49-F238E27FC236}">
                <a16:creationId xmlns:a16="http://schemas.microsoft.com/office/drawing/2014/main" id="{30196CDF-76D1-44E6-61A0-A8B4B04DF8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26" y="913680"/>
            <a:ext cx="9068355" cy="54576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defTabSz="914400">
              <a:lnSpc>
                <a:spcPct val="90000"/>
              </a:lnSpc>
              <a:buNone/>
            </a:pPr>
            <a:r>
              <a:rPr lang="en-IN" sz="2000" b="0" u="none" strike="noStrike">
                <a:solidFill>
                  <a:schemeClr val="dk1"/>
                </a:solidFill>
                <a:effectLst/>
                <a:uFillTx/>
                <a:latin typeface="Arial"/>
                <a:ea typeface="DejaVu Sans"/>
              </a:rPr>
              <a:t>		</a:t>
            </a:r>
            <a:r>
              <a:rPr lang="en-US" sz="1800" b="1" u="sng" strike="noStrike">
                <a:solidFill>
                  <a:schemeClr val="dk1"/>
                </a:solidFill>
                <a:effectLst/>
                <a:uFillTx/>
                <a:latin typeface="Times New Roman"/>
                <a:ea typeface="Calibri"/>
              </a:rPr>
              <a:t>TECHNOLOGIES AND TOOLS</a:t>
            </a:r>
            <a:endParaRPr lang="en-US" sz="1800" b="0" u="none" strike="noStrike">
              <a:solidFill>
                <a:schemeClr val="dk1"/>
              </a:solidFill>
              <a:effectLst/>
              <a:uFillTx/>
              <a:latin typeface="Arial"/>
            </a:endParaRPr>
          </a:p>
        </p:txBody>
      </p:sp>
      <p:sp>
        <p:nvSpPr>
          <p:cNvPr id="240" name="TextBox 2"/>
          <p:cNvSpPr/>
          <p:nvPr/>
        </p:nvSpPr>
        <p:spPr>
          <a:xfrm>
            <a:off x="265525" y="1160353"/>
            <a:ext cx="8091720" cy="430741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sz="1600" b="1" dirty="0" err="1"/>
              <a:t>SarthiX</a:t>
            </a:r>
            <a:r>
              <a:rPr lang="en-US" sz="1600" dirty="0"/>
              <a:t> makes use of a variety of modern tools and technologies to ensure scalability, security, and real-time functionality.</a:t>
            </a:r>
          </a:p>
          <a:p>
            <a:endParaRPr lang="en-US" sz="1600" dirty="0"/>
          </a:p>
          <a:p>
            <a:r>
              <a:rPr lang="en-US" sz="1600" b="1" dirty="0"/>
              <a:t>React.js (with Vite):</a:t>
            </a:r>
            <a:r>
              <a:rPr lang="en-US" sz="1600" dirty="0"/>
              <a:t>Used for developing a fast, responsive, and dynamic user interface. It enables smooth navigation between dashboards for drivers and shippers.</a:t>
            </a:r>
          </a:p>
          <a:p>
            <a:endParaRPr lang="en-US" sz="1600" dirty="0"/>
          </a:p>
          <a:p>
            <a:r>
              <a:rPr lang="en-US" sz="1600" b="1" dirty="0" err="1"/>
              <a:t>Supabase:</a:t>
            </a:r>
            <a:r>
              <a:rPr lang="en-US" sz="1600" dirty="0" err="1"/>
              <a:t>Provides</a:t>
            </a:r>
            <a:r>
              <a:rPr lang="en-US" sz="1600" dirty="0"/>
              <a:t> backend services including PostgreSQL database, real-time data handling, and secure data storage for users, bids, shipments, and permit records.</a:t>
            </a:r>
          </a:p>
          <a:p>
            <a:endParaRPr lang="en-US" sz="1600" dirty="0"/>
          </a:p>
          <a:p>
            <a:r>
              <a:rPr lang="en-US" sz="1600" b="1" dirty="0"/>
              <a:t>Clerk </a:t>
            </a:r>
            <a:r>
              <a:rPr lang="en-US" sz="1600" b="1" dirty="0" err="1"/>
              <a:t>Authentication:</a:t>
            </a:r>
            <a:r>
              <a:rPr lang="en-US" sz="1600" dirty="0" err="1"/>
              <a:t>Ensures</a:t>
            </a:r>
            <a:r>
              <a:rPr lang="en-US" sz="1600" dirty="0"/>
              <a:t> secure user authentication and role-based access control (Driver / Shipper login management).</a:t>
            </a:r>
          </a:p>
          <a:p>
            <a:endParaRPr lang="en-US" sz="1600" dirty="0"/>
          </a:p>
          <a:p>
            <a:r>
              <a:rPr lang="en-US" sz="1600" b="1" dirty="0"/>
              <a:t>REST </a:t>
            </a:r>
            <a:r>
              <a:rPr lang="en-US" sz="1600" b="1" dirty="0" err="1"/>
              <a:t>APIs:</a:t>
            </a:r>
            <a:r>
              <a:rPr lang="en-US" sz="1600" dirty="0" err="1"/>
              <a:t>Used</a:t>
            </a:r>
            <a:r>
              <a:rPr lang="en-US" sz="1600" dirty="0"/>
              <a:t> for efficient communication between frontend and backend services, ensuring secure data exchange.</a:t>
            </a:r>
          </a:p>
          <a:p>
            <a:endParaRPr lang="en-US" sz="1600" dirty="0"/>
          </a:p>
          <a:p>
            <a:endParaRPr lang="en-US" sz="1600" dirty="0"/>
          </a:p>
          <a:p>
            <a:pPr defTabSz="914400">
              <a:lnSpc>
                <a:spcPct val="100000"/>
              </a:lnSpc>
            </a:pPr>
            <a:endParaRPr lang="en-US" sz="1800" b="0" u="none" strike="noStrike" dirty="0">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D518C-5405-EA4C-EA4E-81D0A21C4A1C}"/>
              </a:ext>
            </a:extLst>
          </p:cNvPr>
          <p:cNvSpPr>
            <a:spLocks noGrp="1"/>
          </p:cNvSpPr>
          <p:nvPr>
            <p:ph type="title"/>
          </p:nvPr>
        </p:nvSpPr>
        <p:spPr>
          <a:xfrm>
            <a:off x="1273277" y="-119689"/>
            <a:ext cx="8229240" cy="1144800"/>
          </a:xfrm>
        </p:spPr>
        <p:txBody>
          <a:bodyPr/>
          <a:lstStyle/>
          <a:p>
            <a:r>
              <a:rPr lang="en-US" sz="1800" b="1" u="sng">
                <a:latin typeface="Times New Roman" panose="02020603050405020304" pitchFamily="18" charset="0"/>
                <a:cs typeface="Times New Roman" panose="02020603050405020304" pitchFamily="18" charset="0"/>
              </a:rPr>
              <a:t>VISUAL REPRESENTATION</a:t>
            </a:r>
          </a:p>
        </p:txBody>
      </p:sp>
      <p:pic>
        <p:nvPicPr>
          <p:cNvPr id="5" name="Picture 4">
            <a:extLst>
              <a:ext uri="{FF2B5EF4-FFF2-40B4-BE49-F238E27FC236}">
                <a16:creationId xmlns:a16="http://schemas.microsoft.com/office/drawing/2014/main" id="{8EB82B4B-55FF-99D5-0496-0799F181F9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478" y="1025111"/>
            <a:ext cx="8740878" cy="5267533"/>
          </a:xfrm>
          <a:prstGeom prst="rect">
            <a:avLst/>
          </a:prstGeom>
        </p:spPr>
      </p:pic>
    </p:spTree>
    <p:extLst>
      <p:ext uri="{BB962C8B-B14F-4D97-AF65-F5344CB8AC3E}">
        <p14:creationId xmlns:p14="http://schemas.microsoft.com/office/powerpoint/2010/main" val="1540931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83E2E-7E4B-7C92-8FE3-EFAD93411EF6}"/>
              </a:ext>
            </a:extLst>
          </p:cNvPr>
          <p:cNvSpPr>
            <a:spLocks noGrp="1"/>
          </p:cNvSpPr>
          <p:nvPr>
            <p:ph type="title"/>
          </p:nvPr>
        </p:nvSpPr>
        <p:spPr>
          <a:xfrm>
            <a:off x="1209368" y="0"/>
            <a:ext cx="5485680" cy="913680"/>
          </a:xfrm>
        </p:spPr>
        <p:txBody>
          <a:bodyPr/>
          <a:lstStyle/>
          <a:p>
            <a:r>
              <a:rPr lang="en-US" sz="1800" b="1" u="sng">
                <a:latin typeface="Times New Roman" panose="02020603050405020304" pitchFamily="18" charset="0"/>
                <a:cs typeface="Times New Roman" panose="02020603050405020304" pitchFamily="18" charset="0"/>
              </a:rPr>
              <a:t>VISUAL REPRESENTATION</a:t>
            </a:r>
            <a:endParaRPr lang="en-US" sz="1800"/>
          </a:p>
        </p:txBody>
      </p:sp>
      <p:pic>
        <p:nvPicPr>
          <p:cNvPr id="6" name="Picture 5">
            <a:extLst>
              <a:ext uri="{FF2B5EF4-FFF2-40B4-BE49-F238E27FC236}">
                <a16:creationId xmlns:a16="http://schemas.microsoft.com/office/drawing/2014/main" id="{29A399F8-3D40-96DB-655B-CBA0BDDEA3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484" y="1052052"/>
            <a:ext cx="8839201" cy="5456903"/>
          </a:xfrm>
          <a:prstGeom prst="rect">
            <a:avLst/>
          </a:prstGeom>
        </p:spPr>
      </p:pic>
    </p:spTree>
    <p:extLst>
      <p:ext uri="{BB962C8B-B14F-4D97-AF65-F5344CB8AC3E}">
        <p14:creationId xmlns:p14="http://schemas.microsoft.com/office/powerpoint/2010/main" val="815270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CAD9A-03DA-2DB7-16AD-9E55F6C2B369}"/>
              </a:ext>
            </a:extLst>
          </p:cNvPr>
          <p:cNvSpPr>
            <a:spLocks noGrp="1"/>
          </p:cNvSpPr>
          <p:nvPr>
            <p:ph type="title"/>
          </p:nvPr>
        </p:nvSpPr>
        <p:spPr>
          <a:xfrm>
            <a:off x="1288026" y="0"/>
            <a:ext cx="5485680" cy="913680"/>
          </a:xfrm>
        </p:spPr>
        <p:txBody>
          <a:bodyPr/>
          <a:lstStyle/>
          <a:p>
            <a:r>
              <a:rPr lang="en-US" sz="1800" b="1" u="sng">
                <a:latin typeface="Times New Roman" panose="02020603050405020304" pitchFamily="18" charset="0"/>
                <a:cs typeface="Times New Roman" panose="02020603050405020304" pitchFamily="18" charset="0"/>
              </a:rPr>
              <a:t>VISUAL REPRESENTATION</a:t>
            </a:r>
            <a:endParaRPr lang="en-US" sz="1800"/>
          </a:p>
        </p:txBody>
      </p:sp>
      <p:pic>
        <p:nvPicPr>
          <p:cNvPr id="8" name="Picture 7">
            <a:extLst>
              <a:ext uri="{FF2B5EF4-FFF2-40B4-BE49-F238E27FC236}">
                <a16:creationId xmlns:a16="http://schemas.microsoft.com/office/drawing/2014/main" id="{E7007499-3471-DE00-15A4-E5BFC78856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52" y="1052052"/>
            <a:ext cx="8819535" cy="5230761"/>
          </a:xfrm>
          <a:prstGeom prst="rect">
            <a:avLst/>
          </a:prstGeom>
        </p:spPr>
      </p:pic>
    </p:spTree>
    <p:extLst>
      <p:ext uri="{BB962C8B-B14F-4D97-AF65-F5344CB8AC3E}">
        <p14:creationId xmlns:p14="http://schemas.microsoft.com/office/powerpoint/2010/main" val="1947858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defTabSz="914400">
              <a:lnSpc>
                <a:spcPct val="90000"/>
              </a:lnSpc>
              <a:buNone/>
            </a:pPr>
            <a:r>
              <a:rPr lang="en-IN" sz="2000" b="1" u="none" strike="noStrike">
                <a:solidFill>
                  <a:schemeClr val="dk1"/>
                </a:solidFill>
                <a:effectLst/>
                <a:uFillTx/>
                <a:latin typeface="Arial"/>
                <a:ea typeface="DejaVu Sans"/>
              </a:rPr>
              <a:t>   Future Scope</a:t>
            </a:r>
            <a:endParaRPr lang="en-US" sz="2000" b="0" u="none" strike="noStrike">
              <a:solidFill>
                <a:schemeClr val="dk1"/>
              </a:solidFill>
              <a:effectLst/>
              <a:uFillTx/>
              <a:latin typeface="Arial"/>
            </a:endParaRPr>
          </a:p>
        </p:txBody>
      </p:sp>
      <p:sp>
        <p:nvSpPr>
          <p:cNvPr id="242" name="TextBox 3"/>
          <p:cNvSpPr/>
          <p:nvPr/>
        </p:nvSpPr>
        <p:spPr>
          <a:xfrm>
            <a:off x="255786" y="913680"/>
            <a:ext cx="7898400" cy="556930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sz="1600" dirty="0"/>
              <a:t>The future development of </a:t>
            </a:r>
            <a:r>
              <a:rPr lang="en-US" sz="1600" b="1" dirty="0" err="1"/>
              <a:t>SarthiX</a:t>
            </a:r>
            <a:r>
              <a:rPr lang="en-US" sz="1600" dirty="0"/>
              <a:t> holds significant potential for growth and innovation. As logistics technology and digital transportation systems continue to evolve, the platform can be expanded with advanced features to enhance operational efficiency, automation, and transparency. Future improvements may include.</a:t>
            </a:r>
          </a:p>
          <a:p>
            <a:endParaRPr lang="en-US" sz="1600" dirty="0"/>
          </a:p>
          <a:p>
            <a:r>
              <a:rPr lang="en-US" sz="1600" b="1" dirty="0"/>
              <a:t>AI-Powered Price </a:t>
            </a:r>
            <a:r>
              <a:rPr lang="en-US" sz="1600" b="1" dirty="0" err="1"/>
              <a:t>Recommendation:</a:t>
            </a:r>
            <a:r>
              <a:rPr lang="en-US" sz="1600" dirty="0" err="1"/>
              <a:t>Integration</a:t>
            </a:r>
            <a:r>
              <a:rPr lang="en-US" sz="1600" dirty="0"/>
              <a:t> of artificial intelligence to suggest optimal bidding prices based on historical shipment data, distance, fuel cost trends, and demand patterns.</a:t>
            </a:r>
          </a:p>
          <a:p>
            <a:endParaRPr lang="en-US" sz="1600" dirty="0"/>
          </a:p>
          <a:p>
            <a:r>
              <a:rPr lang="en-US" sz="1600" b="1" dirty="0"/>
              <a:t>Live GPS Tracking </a:t>
            </a:r>
            <a:r>
              <a:rPr lang="en-US" sz="1600" b="1" dirty="0" err="1"/>
              <a:t>Integration:</a:t>
            </a:r>
            <a:r>
              <a:rPr lang="en-US" sz="1600" dirty="0" err="1"/>
              <a:t>Advanced</a:t>
            </a:r>
            <a:r>
              <a:rPr lang="en-US" sz="1600" dirty="0"/>
              <a:t> real-time GPS tracking with route optimization, estimated delivery time prediction, and traffic-based rerouting.</a:t>
            </a:r>
          </a:p>
          <a:p>
            <a:endParaRPr lang="en-US" sz="1600" dirty="0"/>
          </a:p>
          <a:p>
            <a:r>
              <a:rPr lang="en-US" sz="1600" b="1" dirty="0"/>
              <a:t>In-App Communication </a:t>
            </a:r>
            <a:r>
              <a:rPr lang="en-US" sz="1600" b="1" dirty="0" err="1"/>
              <a:t>System:</a:t>
            </a:r>
            <a:r>
              <a:rPr lang="en-US" sz="1600" dirty="0" err="1"/>
              <a:t>Built-in</a:t>
            </a:r>
            <a:r>
              <a:rPr lang="en-US" sz="1600" dirty="0"/>
              <a:t> chat and call functionality to enable seamless communication between drivers and shippers without relying on external platforms.</a:t>
            </a:r>
          </a:p>
          <a:p>
            <a:endParaRPr lang="en-US" sz="1600" dirty="0"/>
          </a:p>
          <a:p>
            <a:r>
              <a:rPr lang="en-US" sz="1600" b="1" dirty="0"/>
              <a:t>Digital Document </a:t>
            </a:r>
            <a:r>
              <a:rPr lang="en-US" sz="1600" b="1" dirty="0" err="1"/>
              <a:t>Verification:</a:t>
            </a:r>
            <a:r>
              <a:rPr lang="en-US" sz="1600" dirty="0" err="1"/>
              <a:t>Integration</a:t>
            </a:r>
            <a:r>
              <a:rPr lang="en-US" sz="1600" dirty="0"/>
              <a:t> of automated document verification for permits, insurance, and licenses to reduce manual verification delays and enhance compliance.</a:t>
            </a:r>
          </a:p>
          <a:p>
            <a:pPr defTabSz="914400">
              <a:lnSpc>
                <a:spcPct val="100000"/>
              </a:lnSpc>
              <a:tabLst>
                <a:tab pos="457200" algn="l"/>
              </a:tabLst>
            </a:pPr>
            <a:endParaRPr lang="en-US" sz="1600" b="0" u="none" strike="noStrike" dirty="0">
              <a:solidFill>
                <a:srgbClr val="000000"/>
              </a:solidFill>
              <a:effectLst/>
              <a:uFillTx/>
              <a:latin typeface="Arial"/>
            </a:endParaRPr>
          </a:p>
          <a:p>
            <a:pPr defTabSz="914400">
              <a:lnSpc>
                <a:spcPct val="100000"/>
              </a:lnSpc>
              <a:tabLst>
                <a:tab pos="457200" algn="l"/>
              </a:tabLst>
            </a:pPr>
            <a:endParaRPr lang="en-US" sz="1800" b="0" u="none" strike="noStrike" dirty="0">
              <a:solidFill>
                <a:srgbClr val="000000"/>
              </a:solidFill>
              <a:effectLst/>
              <a:uFillTx/>
              <a:latin typeface="Arial"/>
            </a:endParaRPr>
          </a:p>
          <a:p>
            <a:pPr defTabSz="914400">
              <a:lnSpc>
                <a:spcPct val="100000"/>
              </a:lnSpc>
              <a:tabLst>
                <a:tab pos="457200" algn="l"/>
              </a:tabLst>
            </a:pPr>
            <a:endParaRPr lang="en-US" sz="1800" b="0" u="none" strike="noStrike" dirty="0">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defTabSz="914400">
              <a:lnSpc>
                <a:spcPct val="90000"/>
              </a:lnSpc>
              <a:buNone/>
            </a:pPr>
            <a:r>
              <a:rPr lang="en-IN" sz="2000" b="1" u="none" strike="noStrike">
                <a:solidFill>
                  <a:schemeClr val="dk1"/>
                </a:solidFill>
                <a:effectLst/>
                <a:uFillTx/>
                <a:latin typeface="Arial"/>
                <a:ea typeface="DejaVu Sans"/>
              </a:rPr>
              <a:t>   Conclusion</a:t>
            </a:r>
            <a:endParaRPr lang="en-US" sz="2000" b="0" u="none" strike="noStrike">
              <a:solidFill>
                <a:schemeClr val="dk1"/>
              </a:solidFill>
              <a:effectLst/>
              <a:uFillTx/>
              <a:latin typeface="Arial"/>
            </a:endParaRPr>
          </a:p>
        </p:txBody>
      </p:sp>
      <p:sp>
        <p:nvSpPr>
          <p:cNvPr id="244" name="TextBox 3"/>
          <p:cNvSpPr/>
          <p:nvPr/>
        </p:nvSpPr>
        <p:spPr>
          <a:xfrm>
            <a:off x="103500" y="913680"/>
            <a:ext cx="8937000" cy="504608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r>
              <a:rPr lang="en-US" sz="1600" dirty="0"/>
              <a:t>The development of </a:t>
            </a:r>
            <a:r>
              <a:rPr lang="en-US" sz="1600" b="1" dirty="0" err="1"/>
              <a:t>SarthiX</a:t>
            </a:r>
            <a:r>
              <a:rPr lang="en-US" sz="1600" dirty="0"/>
              <a:t> represents a significant advancement in the field of digital logistics and transportation management systems. By combining a real-time bidding mechanism, shipment lifecycle tracking, and automated permit compliance monitoring within a web-based platform, the system effectively bridges the gap between traditional freight allocation methods and modern digital marketplace solutions. It enables drivers and shippers to interact transparently, make informed decisions, and manage shipments efficiently.</a:t>
            </a:r>
          </a:p>
          <a:p>
            <a:pPr algn="just"/>
            <a:endParaRPr lang="en-US" sz="1600" dirty="0"/>
          </a:p>
          <a:p>
            <a:pPr algn="just"/>
            <a:endParaRPr lang="en-US" sz="1600" dirty="0"/>
          </a:p>
          <a:p>
            <a:pPr algn="just"/>
            <a:r>
              <a:rPr lang="en-US" sz="1600" dirty="0"/>
              <a:t>Through the integration of technologies such as Vite, React.js, </a:t>
            </a:r>
            <a:r>
              <a:rPr lang="en-US" sz="1600" dirty="0" err="1"/>
              <a:t>Supabase</a:t>
            </a:r>
            <a:r>
              <a:rPr lang="en-US" sz="1600" dirty="0"/>
              <a:t>, and Clerk authentication, </a:t>
            </a:r>
            <a:r>
              <a:rPr lang="en-US" sz="1600" dirty="0" err="1"/>
              <a:t>SarthiX</a:t>
            </a:r>
            <a:r>
              <a:rPr lang="en-US" sz="1600" dirty="0"/>
              <a:t> ensures scalability, performance, security, and reliable role-based access control. The platform not only streamlines load allocation and bidding processes but also reduces compliance risks through automated permit notifications and monitoring features.</a:t>
            </a:r>
          </a:p>
          <a:p>
            <a:pPr algn="just"/>
            <a:endParaRPr lang="en-US" sz="1600" dirty="0"/>
          </a:p>
          <a:p>
            <a:pPr algn="just"/>
            <a:endParaRPr lang="en-US" sz="1600" dirty="0"/>
          </a:p>
          <a:p>
            <a:pPr algn="just"/>
            <a:r>
              <a:rPr lang="en-US" sz="1600" dirty="0"/>
              <a:t>In conclusion, </a:t>
            </a:r>
            <a:r>
              <a:rPr lang="en-US" sz="1600" dirty="0" err="1"/>
              <a:t>SarthiX</a:t>
            </a:r>
            <a:r>
              <a:rPr lang="en-US" sz="1600" dirty="0"/>
              <a:t> is more than a logistics marketplace — it is an integrated operational and compliance ecosystem that promotes transparency, efficiency, and trust within the transportation industry. With continuous enhancements and the adoption of emerging technologies, the platform has the potential to evolve into a comprehensive, intelligent, and widely accessible digital freight management solution.</a:t>
            </a:r>
          </a:p>
          <a:p>
            <a:pPr defTabSz="914400">
              <a:lnSpc>
                <a:spcPct val="100000"/>
              </a:lnSpc>
            </a:pPr>
            <a:endParaRPr lang="en-US" sz="1800" b="0" u="none" strike="noStrike" dirty="0">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defTabSz="914400">
              <a:lnSpc>
                <a:spcPct val="90000"/>
              </a:lnSpc>
              <a:buNone/>
            </a:pPr>
            <a:r>
              <a:rPr lang="en-IN" sz="2000" b="1" u="none" strike="noStrike" dirty="0">
                <a:solidFill>
                  <a:schemeClr val="dk1"/>
                </a:solidFill>
                <a:effectLst/>
                <a:uFillTx/>
                <a:latin typeface="Arial"/>
                <a:ea typeface="DejaVu Sans"/>
              </a:rPr>
              <a:t>   Bibliography/References</a:t>
            </a:r>
            <a:endParaRPr lang="en-US" sz="2000" b="0" u="none" strike="noStrike" dirty="0">
              <a:solidFill>
                <a:schemeClr val="dk1"/>
              </a:solidFill>
              <a:effectLst/>
              <a:uFillTx/>
              <a:latin typeface="Arial"/>
            </a:endParaRPr>
          </a:p>
        </p:txBody>
      </p:sp>
      <p:sp>
        <p:nvSpPr>
          <p:cNvPr id="246" name="TextBox 3"/>
          <p:cNvSpPr/>
          <p:nvPr/>
        </p:nvSpPr>
        <p:spPr>
          <a:xfrm>
            <a:off x="118080" y="835626"/>
            <a:ext cx="8907840" cy="58693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IN" sz="1500" b="1" dirty="0"/>
              <a:t>React (Official Documentation)</a:t>
            </a:r>
            <a:br>
              <a:rPr lang="en-IN" sz="1500" dirty="0"/>
            </a:br>
            <a:r>
              <a:rPr lang="en-IN" sz="1500" dirty="0"/>
              <a:t>Meta. </a:t>
            </a:r>
            <a:r>
              <a:rPr lang="en-IN" sz="1500" i="1" dirty="0"/>
              <a:t>React – A JavaScript Library for Building User Interfaces.</a:t>
            </a:r>
            <a:br>
              <a:rPr lang="en-IN" sz="1500" dirty="0"/>
            </a:br>
            <a:r>
              <a:rPr lang="en-IN" sz="1500" dirty="0">
                <a:hlinkClick r:id="rId2"/>
              </a:rPr>
              <a:t>https://react.dev</a:t>
            </a:r>
            <a:endParaRPr lang="en-IN" sz="1500" dirty="0"/>
          </a:p>
          <a:p>
            <a:r>
              <a:rPr lang="en-IN" sz="1500" b="1" dirty="0"/>
              <a:t>Vite (Official Documentation)</a:t>
            </a:r>
            <a:br>
              <a:rPr lang="en-IN" sz="1500" dirty="0"/>
            </a:br>
            <a:r>
              <a:rPr lang="en-IN" sz="1500" dirty="0"/>
              <a:t>Evan You. </a:t>
            </a:r>
            <a:r>
              <a:rPr lang="en-IN" sz="1500" i="1" dirty="0"/>
              <a:t>Vite – Next Generation Frontend Tooling.</a:t>
            </a:r>
            <a:br>
              <a:rPr lang="en-IN" sz="1500" dirty="0"/>
            </a:br>
            <a:r>
              <a:rPr lang="en-IN" sz="1500" dirty="0">
                <a:hlinkClick r:id="rId3"/>
              </a:rPr>
              <a:t>https://vitejs.dev</a:t>
            </a:r>
            <a:endParaRPr lang="en-IN" sz="1500" dirty="0"/>
          </a:p>
          <a:p>
            <a:r>
              <a:rPr lang="en-IN" sz="1500" b="1" dirty="0"/>
              <a:t>Clerk (Authentication Platform)</a:t>
            </a:r>
            <a:br>
              <a:rPr lang="en-IN" sz="1500" dirty="0"/>
            </a:br>
            <a:r>
              <a:rPr lang="en-IN" sz="1500" dirty="0"/>
              <a:t>Clerk Inc. </a:t>
            </a:r>
            <a:r>
              <a:rPr lang="en-IN" sz="1500" i="1" dirty="0"/>
              <a:t>Clerk – Authentication and User Management.</a:t>
            </a:r>
            <a:br>
              <a:rPr lang="en-IN" sz="1500" dirty="0"/>
            </a:br>
            <a:r>
              <a:rPr lang="en-IN" sz="1500" dirty="0">
                <a:hlinkClick r:id="rId4"/>
              </a:rPr>
              <a:t>https://clerk.com/docs</a:t>
            </a:r>
            <a:endParaRPr lang="en-IN" sz="1500" dirty="0"/>
          </a:p>
          <a:p>
            <a:r>
              <a:rPr lang="en-IN" sz="1500" b="1" dirty="0"/>
              <a:t>Tailwind CSS (Official Documentation)</a:t>
            </a:r>
            <a:br>
              <a:rPr lang="en-IN" sz="1500" dirty="0"/>
            </a:br>
            <a:r>
              <a:rPr lang="en-IN" sz="1500" dirty="0"/>
              <a:t>Tailwind Labs. </a:t>
            </a:r>
            <a:r>
              <a:rPr lang="en-IN" sz="1500" i="1" dirty="0"/>
              <a:t>Tailwind CSS – Utility-First CSS Framework.</a:t>
            </a:r>
            <a:br>
              <a:rPr lang="en-IN" sz="1500" dirty="0"/>
            </a:br>
            <a:r>
              <a:rPr lang="en-IN" sz="1500" dirty="0">
                <a:hlinkClick r:id="rId5"/>
              </a:rPr>
              <a:t>https://tailwindcss.com/docs</a:t>
            </a:r>
            <a:endParaRPr lang="en-IN" sz="1500" dirty="0"/>
          </a:p>
          <a:p>
            <a:r>
              <a:rPr lang="en-IN" sz="1500" b="1" dirty="0" err="1"/>
              <a:t>Supabase</a:t>
            </a:r>
            <a:r>
              <a:rPr lang="en-IN" sz="1500" b="1" dirty="0"/>
              <a:t> (Official Documentation)</a:t>
            </a:r>
            <a:br>
              <a:rPr lang="en-IN" sz="1500" dirty="0"/>
            </a:br>
            <a:r>
              <a:rPr lang="en-IN" sz="1500" dirty="0" err="1"/>
              <a:t>Supabase</a:t>
            </a:r>
            <a:r>
              <a:rPr lang="en-IN" sz="1500" dirty="0"/>
              <a:t> Inc. </a:t>
            </a:r>
            <a:r>
              <a:rPr lang="en-IN" sz="1500" i="1" dirty="0" err="1"/>
              <a:t>Supabase</a:t>
            </a:r>
            <a:r>
              <a:rPr lang="en-IN" sz="1500" i="1" dirty="0"/>
              <a:t> – Open Source Firebase Alternative.</a:t>
            </a:r>
            <a:br>
              <a:rPr lang="en-IN" sz="1500" dirty="0"/>
            </a:br>
            <a:r>
              <a:rPr lang="en-IN" sz="1500" dirty="0">
                <a:hlinkClick r:id="rId6"/>
              </a:rPr>
              <a:t>https://supabase.com/docs</a:t>
            </a:r>
            <a:endParaRPr lang="en-IN" sz="1500" dirty="0"/>
          </a:p>
          <a:p>
            <a:r>
              <a:rPr lang="en-IN" sz="1500" b="1" dirty="0" err="1"/>
              <a:t>Supabase</a:t>
            </a:r>
            <a:r>
              <a:rPr lang="en-IN" sz="1500" b="1" dirty="0"/>
              <a:t> Storage (Bucket Service)</a:t>
            </a:r>
            <a:br>
              <a:rPr lang="en-IN" sz="1500" dirty="0"/>
            </a:br>
            <a:r>
              <a:rPr lang="en-IN" sz="1500" dirty="0" err="1"/>
              <a:t>Supabase</a:t>
            </a:r>
            <a:r>
              <a:rPr lang="en-IN" sz="1500" dirty="0"/>
              <a:t> Inc. </a:t>
            </a:r>
            <a:r>
              <a:rPr lang="en-IN" sz="1500" i="1" dirty="0" err="1"/>
              <a:t>Supabase</a:t>
            </a:r>
            <a:r>
              <a:rPr lang="en-IN" sz="1500" i="1" dirty="0"/>
              <a:t> Storage – File &amp; Object Storage.</a:t>
            </a:r>
            <a:br>
              <a:rPr lang="en-IN" sz="1500" dirty="0"/>
            </a:br>
            <a:r>
              <a:rPr lang="en-IN" sz="1500" dirty="0">
                <a:hlinkClick r:id="rId7"/>
              </a:rPr>
              <a:t>https://supabase.com/docs/guides/storage</a:t>
            </a:r>
            <a:endParaRPr lang="en-IN" sz="1500" dirty="0"/>
          </a:p>
          <a:p>
            <a:r>
              <a:rPr lang="en-IN" sz="1500" b="1" dirty="0"/>
              <a:t>Express.js (Official Documentation)</a:t>
            </a:r>
            <a:br>
              <a:rPr lang="en-IN" sz="1500" dirty="0"/>
            </a:br>
            <a:r>
              <a:rPr lang="en-IN" sz="1500" dirty="0" err="1"/>
              <a:t>OpenJS</a:t>
            </a:r>
            <a:r>
              <a:rPr lang="en-IN" sz="1500" dirty="0"/>
              <a:t> Foundation. </a:t>
            </a:r>
            <a:r>
              <a:rPr lang="en-IN" sz="1500" i="1" dirty="0"/>
              <a:t>Express – Fast, Unopinionated Web Framework for Node.js.</a:t>
            </a:r>
            <a:br>
              <a:rPr lang="en-IN" sz="1500" dirty="0"/>
            </a:br>
            <a:r>
              <a:rPr lang="en-IN" sz="1500" dirty="0">
                <a:hlinkClick r:id="rId8"/>
              </a:rPr>
              <a:t>https://expressjs.com</a:t>
            </a:r>
            <a:endParaRPr lang="en-IN" sz="1500" dirty="0"/>
          </a:p>
          <a:p>
            <a:r>
              <a:rPr lang="en-IN" sz="1500" b="1" dirty="0"/>
              <a:t>PostgreSQL (Official Documentation)</a:t>
            </a:r>
            <a:br>
              <a:rPr lang="en-IN" sz="1500" dirty="0"/>
            </a:br>
            <a:r>
              <a:rPr lang="en-IN" sz="1500" dirty="0"/>
              <a:t>PostgreSQL Global Development Group. </a:t>
            </a:r>
            <a:r>
              <a:rPr lang="en-IN" sz="1500" i="1" dirty="0"/>
              <a:t>PostgreSQL – Advanced Open Source Relational Database.</a:t>
            </a:r>
            <a:br>
              <a:rPr lang="en-IN" sz="1500" dirty="0"/>
            </a:br>
            <a:r>
              <a:rPr lang="en-IN" sz="1500" dirty="0">
                <a:hlinkClick r:id="rId9"/>
              </a:rPr>
              <a:t>https://www.postgresql.org/docs</a:t>
            </a:r>
            <a:endParaRPr lang="en-IN" sz="1500" dirty="0"/>
          </a:p>
          <a:p>
            <a:pPr defTabSz="914400">
              <a:lnSpc>
                <a:spcPct val="100000"/>
              </a:lnSpc>
              <a:tabLst>
                <a:tab pos="457200" algn="l"/>
              </a:tabLst>
            </a:pPr>
            <a:endParaRPr lang="en-US" sz="1550" b="0" u="none" strike="noStrike" dirty="0">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TextShape 1"/>
          <p:cNvSpPr/>
          <p:nvPr/>
        </p:nvSpPr>
        <p:spPr>
          <a:xfrm>
            <a:off x="1297440" y="2821680"/>
            <a:ext cx="6705360" cy="14104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5400" b="0" u="none" strike="noStrike">
                <a:solidFill>
                  <a:schemeClr val="dk1"/>
                </a:solidFill>
                <a:effectLst/>
                <a:uFillTx/>
                <a:latin typeface="Times New Roman"/>
                <a:ea typeface="DejaVu Sans"/>
              </a:rPr>
              <a:t>Thank You</a:t>
            </a:r>
            <a:endParaRPr lang="en-US" sz="5400" b="0" u="none" strike="noStrike">
              <a:solidFill>
                <a:srgbClr val="000000"/>
              </a:solidFill>
              <a:effectLst/>
              <a:uFillTx/>
              <a:latin typeface="Arial"/>
            </a:endParaRPr>
          </a:p>
        </p:txBody>
      </p:sp>
      <p:sp>
        <p:nvSpPr>
          <p:cNvPr id="248"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E19D697E-C37C-41BD-90BD-A4D3EF4BFD80}" type="slidenum">
              <a:rPr lang="en-US" sz="1200" b="1" u="none" strike="noStrike">
                <a:solidFill>
                  <a:srgbClr val="000000"/>
                </a:solidFill>
                <a:effectLst/>
                <a:uFillTx/>
                <a:latin typeface="Calibri"/>
                <a:ea typeface="MS PGothic"/>
              </a:rPr>
              <a:t>13</a:t>
            </a:fld>
            <a:endParaRPr lang="en-US" sz="1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35777</TotalTime>
  <Words>1032</Words>
  <Application>Microsoft Office PowerPoint</Application>
  <PresentationFormat>On-screen Show (4:3)</PresentationFormat>
  <Paragraphs>96</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Symbol</vt:lpstr>
      <vt:lpstr>Times New Roman</vt:lpstr>
      <vt:lpstr>Wingdings</vt:lpstr>
      <vt:lpstr>Office Theme</vt:lpstr>
      <vt:lpstr>PowerPoint Presentation</vt:lpstr>
      <vt:lpstr>PowerPoint Presentation</vt:lpstr>
      <vt:lpstr> Software and Hardware Requirement Specification </vt:lpstr>
      <vt:lpstr>PowerPoint Presentation</vt:lpstr>
      <vt:lpstr>   Supabase Overview</vt:lpstr>
      <vt:lpstr>  TECHNOLOGIES AND TOOLS</vt:lpstr>
      <vt:lpstr>VISUAL REPRESENTATION</vt:lpstr>
      <vt:lpstr>VISUAL REPRESENTATION</vt:lpstr>
      <vt:lpstr>VISUAL REPRESENTATION</vt:lpstr>
      <vt:lpstr>   Future Scope</vt:lpstr>
      <vt:lpstr>   Conclusion</vt:lpstr>
      <vt:lpstr>   Bibliography/References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ABC</dc:creator>
  <dc:description/>
  <cp:lastModifiedBy>Hitesh Saini</cp:lastModifiedBy>
  <cp:revision>2330</cp:revision>
  <dcterms:created xsi:type="dcterms:W3CDTF">2010-04-09T07:36:15Z</dcterms:created>
  <dcterms:modified xsi:type="dcterms:W3CDTF">2026-04-28T10:28:53Z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0x010100096F1BF43DDE004485E7A868D137D60A</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13</vt:i4>
  </property>
</Properties>
</file>